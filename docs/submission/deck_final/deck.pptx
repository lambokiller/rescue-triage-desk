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4400550"/>
            <a:ext cx="5486400" cy="360045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May 2024 the worst floods in the history of Rio Grande do Sul, in southern Brazil, put whole cities under water. People asked for help any way they could, and many requests were hard to read, hard to locate, or simply lost in the noise. We built Arca, Portuguese for ark: a team of AI agents that reads every request, finds the place, plans the rescue and hands it to a human dispatcher, who approves every boat that leaves. This is a replay of 6 May 2024.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scale first. One hundred and eighty-five people died. Two point four million were affected, in 478 of the state's 497 municipalities. On the right is the Guaíba river at Porto Alegre: it peaked at 5.35 metres, above the 1941 record of 4.76. Whole neighbourhoods stayed under water for weeks, and rescue was done street by street, by boat. Every number on this slide comes from Defesa Civil's final bulletin and the Brazilian Geological Service; sources are in the appendix.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than 77,000 people were rescued, many by volunteers in their own boats. The requests arrived through dozens of WhatsApp groups, phone calls, social media posts and single texts sent with the last bar of signal. The volunteers were brave and fast; what they lacked was one shared picture of who needed help, where, and how urgently. Arca is built for the municipal Defesa Civil dispatch rooms and the volunteer rescue coordinators who face that flood of requests.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now. NOAA's Climate Prediction Center, in its 8 October 2026 discussion, gives a better-than-83 percent chance of a strong to very strong El Niño through early 2027. El Niño years bring heavy rain to southern Brazil. We cannot say when the next flood comes, but the planning window is short, and the next time requests flood in, the people answering them should not be reading messages one by one with no shared picture.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one call for help, followed end to end. A woman writes on WhatsApp: socorro, we are on the second floor at Voluntários da Pátria 1067, Porto Alegre, me, my bedridden mother and my 8-year-old son, the water won't stop rising. Our agents read it in Portuguese, as written. They count three people, see that the mother is bedridden, so this is medical and P1, top priority, and they verify the street address in Zetaris. On the right is the case card Arca produced, live.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how the agents handle that message. Intake reads it, the Location agent finds the street through Zetaris, and checker agents challenge the reading: a critic, a credibility reviewer, a hazard checker and a duplicate reviewer. An objection sends it back and Intake re-reads the message. Only then does a proposal reach a human dispatcher. Every model call carries a Nemotron receipt with model, receipt id and time, and every fact quotes the exact words it came from: minha mãe acamada, my mother is bedridden.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Then the planning agents take over. The fleet agent checks every boat on shift and finds the one that can reach her: here, a simulated aluminium boat for six, 24 minutes away. Routing plans the road to the water's edge, then the water leg by boat, which is an estimate: 8.9 kilometres in total. Nothing moves until a human dispatcher ticks five safety checks and presses Dispatch, and even then there are ten seconds to undo. When the crew reports resgatamos 3, we rescued 3, the case closes.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whole team on one page. 28 agents and loops, 19 of them model agents and 9 operational loops, work in four stages: read, plan, watch, and a human who approves. Three loops keep the picture current: the callback agent asks the citizen one question on the same channel the request came from and re-reads the reply, a new P1 can reroute a boat, and the supervisor keeps alerting until a problem is closed. Underneath, the Meterless World Model keeps one shared event log: every agent action recorded and replayable.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built this safety-first and tested it hard. On live requests the agents triage 29 of 30 correctly, in 11 seconds on average. They stopped all 42 red-team attacks. On 100 never-seen blind requests, run once live, 94 recommendations were safe. To be exact: 34 of 50 and 29 of 50 correct, with 3 unsafe sends in each set, so the blind gap is our next work. When unsure, the agents ask again instead of guessing, and no boat moves without a human.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sponsor technologies carry the system. NVIDIA Nemotron is the model behind every agent decision, and every call leaves a receipt we can audit. Meterless Nightshift is the single gateway every agent call goes through, and our event log follows the Meterless World Model: one shared, replayable record of every agent action. Zetaris holds the city: streets, landmarks and flood data, queried in one place, which is how the agents verified Voluntários da Pátria 1067 in the demo.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 the hood the stack is small on purpose. The agents run on NVIDIA Nemotron, reached through Meterless Nightshift. The Meterless World Model engine keeps one event log of every action. Zetaris serves place and flood data through REST, S3 and USL views, next to an OpenStreetMap road graph. The app itself is a Python standard-library server with an HTTP run API, shipped in Docker, and SAMPLE_MODE runs the whole desk offline with no keys. What is unique: agents cite their receipts, and every decision can be replayed.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comes next. First, intake where people already ask for help: the WhatsApp Business API and the 193 fire-brigade line, feeding the same queue. Second, live river gauges for the Guaíba, Jacuí and Taquari through Zetaris, replacing retrospective flood layers with observed levels. Third, a Defesa Civil pilot before the next El Niño season: a tabletop exercise on replayed messages, then a supervised pilot. And before any real use, we close the gap on the blind tests.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request heard. Every agent working together. When the next flood comes, no call for help should get lost. Today this is a replay of 6 May 2024 with a simulated fleet and GPS; we do not claim lives saved, only the potential. Our ask is concrete: help us pilot it with Defesa Civil before the next El Niño, with real dispatchers, real channels and real boats, measured honestly. The code, the evaluations and this deck are open at github.com/LamboKiller/rescue-triage-desk.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number in the deck, with its source and date, and every photograph with author and licence; full URLs are in CREDITS.md. The hero message is a synthetic case written for the replay; the product frames are live captures of Arca on 27 October 2026 with real Nemotron calls through Nightshift. The fleet, GPS, shelter and ambulance data are simulated. Development tooling not shown on the slides, such as our red-team generator, is described in the repository.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pic>
        <p:nvPicPr>
          <p:cNvPr id="3" name="photo_s1"/>
          <p:cNvPicPr>
            <a:picLocks noChangeAspect="1"/>
          </p:cNvPicPr>
          <p:nvPr/>
        </p:nvPicPr>
        <p:blipFill>
          <a:blip r:embed="rId2"/>
          <a:stretch>
            <a:fillRect/>
          </a:stretch>
        </p:blipFill>
        <p:spPr>
          <a:xfrm>
            <a:off x="0" y="0"/>
            <a:ext cx="12192000" cy="6858000"/>
          </a:xfrm>
          <a:prstGeom prst="rect">
            <a:avLst/>
          </a:prstGeom>
        </p:spPr>
      </p:pic>
      <p:sp>
        <p:nvSpPr>
          <p:cNvPr id="4" name="photo_s1_band"/>
          <p:cNvSpPr/>
          <p:nvPr/>
        </p:nvSpPr>
        <p:spPr>
          <a:xfrm>
            <a:off x="0" y="0"/>
            <a:ext cx="12192000" cy="6858000"/>
          </a:xfrm>
          <a:prstGeom prst="rect">
            <a:avLst/>
          </a:prstGeom>
          <a:gradFill rotWithShape="1">
            <a:gsLst>
              <a:gs pos="0">
                <a:srgbClr val="05080C">
                  <a:alpha val="86000"/>
                </a:srgbClr>
              </a:gs>
              <a:gs pos="36000">
                <a:srgbClr val="05080C">
                  <a:alpha val="62000"/>
                </a:srgbClr>
              </a:gs>
              <a:gs pos="62000">
                <a:srgbClr val="05080C">
                  <a:alpha val="0"/>
                </a:srgbClr>
              </a:gs>
            </a:gsLst>
            <a:lin ang="0" scaled="0"/>
          </a:gradFill>
          <a:ln>
            <a:noFill/>
          </a:ln>
        </p:spPr>
      </p:sp>
      <p:sp>
        <p:nvSpPr>
          <p:cNvPr id="5" name="foot_band"/>
          <p:cNvSpPr/>
          <p:nvPr/>
        </p:nvSpPr>
        <p:spPr>
          <a:xfrm>
            <a:off x="0" y="4064000"/>
            <a:ext cx="12192000" cy="2794000"/>
          </a:xfrm>
          <a:prstGeom prst="rect">
            <a:avLst/>
          </a:prstGeom>
          <a:gradFill rotWithShape="1">
            <a:gsLst>
              <a:gs pos="0">
                <a:srgbClr val="05080C">
                  <a:alpha val="0"/>
                </a:srgbClr>
              </a:gs>
              <a:gs pos="100000">
                <a:srgbClr val="05080C">
                  <a:alpha val="85000"/>
                </a:srgbClr>
              </a:gs>
            </a:gsLst>
            <a:lin ang="5400000" scaled="0"/>
          </a:gradFill>
          <a:ln>
            <a:noFill/>
          </a:ln>
        </p:spPr>
      </p:sp>
      <p:sp>
        <p:nvSpPr>
          <p:cNvPr id="6" name="name"/>
          <p:cNvSpPr txBox="1"/>
          <p:nvPr/>
        </p:nvSpPr>
        <p:spPr>
          <a:xfrm>
            <a:off x="520700" y="2095500"/>
            <a:ext cx="8255000" cy="2159000"/>
          </a:xfrm>
          <a:prstGeom prst="rect">
            <a:avLst/>
          </a:prstGeom>
          <a:noFill/>
        </p:spPr>
        <p:txBody>
          <a:bodyPr wrap="none" lIns="0" tIns="0" rIns="0" bIns="0" anchor="t">
            <a:noAutofit/>
          </a:bodyPr>
          <a:lstStyle/>
          <a:p>
            <a:pPr algn="l">
              <a:lnSpc>
                <a:spcPct val="82645"/>
              </a:lnSpc>
              <a:spcBef>
                <a:spcPts val="0"/>
              </a:spcBef>
            </a:pPr>
            <a:r>
              <a:rPr lang="en-US" sz="15000" b="1" spc="-180" dirty="0">
                <a:solidFill>
                  <a:srgbClr val="F5F7FA"/>
                </a:solidFill>
                <a:latin typeface="Inter Display"/>
                <a:cs typeface="Inter Display"/>
              </a:rPr>
              <a:t>Arca</a:t>
            </a:r>
          </a:p>
        </p:txBody>
      </p:sp>
      <p:sp>
        <p:nvSpPr>
          <p:cNvPr id="7" name="tagline"/>
          <p:cNvSpPr txBox="1"/>
          <p:nvPr/>
        </p:nvSpPr>
        <p:spPr>
          <a:xfrm>
            <a:off x="609600" y="4318000"/>
            <a:ext cx="8890000" cy="533400"/>
          </a:xfrm>
          <a:prstGeom prst="rect">
            <a:avLst/>
          </a:prstGeom>
          <a:noFill/>
        </p:spPr>
        <p:txBody>
          <a:bodyPr wrap="none" lIns="0" tIns="0" rIns="0" bIns="0" anchor="t">
            <a:noAutofit/>
          </a:bodyPr>
          <a:lstStyle/>
          <a:p>
            <a:pPr algn="l">
              <a:lnSpc>
                <a:spcPct val="95041"/>
              </a:lnSpc>
              <a:spcBef>
                <a:spcPts val="0"/>
              </a:spcBef>
            </a:pPr>
            <a:r>
              <a:rPr lang="en-US" sz="3400" b="1" spc="-41" dirty="0">
                <a:solidFill>
                  <a:srgbClr val="FFB224"/>
                </a:solidFill>
                <a:latin typeface="Inter Display"/>
                <a:cs typeface="Inter Display"/>
              </a:rPr>
              <a:t>AI agents for flood rescue</a:t>
            </a:r>
          </a:p>
        </p:txBody>
      </p:sp>
      <p:sp>
        <p:nvSpPr>
          <p:cNvPr id="8" name="sub"/>
          <p:cNvSpPr txBox="1"/>
          <p:nvPr/>
        </p:nvSpPr>
        <p:spPr>
          <a:xfrm>
            <a:off x="609600" y="5080000"/>
            <a:ext cx="8890000" cy="381000"/>
          </a:xfrm>
          <a:prstGeom prst="rect">
            <a:avLst/>
          </a:prstGeom>
          <a:noFill/>
        </p:spPr>
        <p:txBody>
          <a:bodyPr wrap="none" lIns="0" tIns="0" rIns="0" bIns="0" anchor="t">
            <a:noAutofit/>
          </a:bodyPr>
          <a:lstStyle/>
          <a:p>
            <a:pPr algn="l">
              <a:lnSpc>
                <a:spcPct val="95041"/>
              </a:lnSpc>
              <a:spcBef>
                <a:spcPts val="0"/>
              </a:spcBef>
            </a:pPr>
            <a:r>
              <a:rPr lang="en-US" sz="2200" spc="-22" dirty="0">
                <a:solidFill>
                  <a:srgbClr val="F5F7FA">
                    <a:alpha val="95000"/>
                  </a:srgbClr>
                </a:solidFill>
                <a:latin typeface="Inter Medium"/>
                <a:cs typeface="Inter Medium"/>
              </a:rPr>
              <a:t>No call for help should go unheard.</a:t>
            </a:r>
          </a:p>
        </p:txBody>
      </p:sp>
      <p:sp>
        <p:nvSpPr>
          <p:cNvPr id="9" name="event"/>
          <p:cNvSpPr txBox="1"/>
          <p:nvPr/>
        </p:nvSpPr>
        <p:spPr>
          <a:xfrm>
            <a:off x="609600" y="5638800"/>
            <a:ext cx="7620000" cy="292100"/>
          </a:xfrm>
          <a:prstGeom prst="rect">
            <a:avLst/>
          </a:prstGeom>
          <a:noFill/>
        </p:spPr>
        <p:txBody>
          <a:bodyPr wrap="none" lIns="0" tIns="0" rIns="0" bIns="0" anchor="t">
            <a:noAutofit/>
          </a:bodyPr>
          <a:lstStyle/>
          <a:p>
            <a:pPr algn="l">
              <a:lnSpc>
                <a:spcPct val="95041"/>
              </a:lnSpc>
              <a:spcBef>
                <a:spcPts val="0"/>
              </a:spcBef>
            </a:pPr>
            <a:r>
              <a:rPr lang="en-US" sz="1700" spc="-17" dirty="0">
                <a:solidFill>
                  <a:srgbClr val="F5F7FA">
                    <a:alpha val="92000"/>
                  </a:srgbClr>
                </a:solidFill>
                <a:latin typeface="Inter Medium"/>
                <a:cs typeface="Inter Medium"/>
              </a:rPr>
              <a:t>Team Orbital · Open Agent Hackathon 2026</a:t>
            </a:r>
          </a:p>
        </p:txBody>
      </p:sp>
      <p:sp>
        <p:nvSpPr>
          <p:cNvPr id="10"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Photo: rescuers in Laranjal, Pelotas, 10 May 2024 · Michel Corvello / Prefeitura de Pelotas · public domain</a:t>
            </a:r>
          </a:p>
        </p:txBody>
      </p:sp>
      <p:sp>
        <p:nvSpPr>
          <p:cNvPr id="11"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482600"/>
            <a:ext cx="10972800" cy="444500"/>
          </a:xfrm>
          <a:prstGeom prst="rect">
            <a:avLst/>
          </a:prstGeom>
          <a:noFill/>
        </p:spPr>
        <p:txBody>
          <a:bodyPr wrap="none" lIns="0" tIns="0" rIns="0" bIns="0" anchor="t">
            <a:noAutofit/>
          </a:bodyPr>
          <a:lstStyle/>
          <a:p>
            <a:pPr algn="l">
              <a:lnSpc>
                <a:spcPct val="95041"/>
              </a:lnSpc>
              <a:spcBef>
                <a:spcPts val="0"/>
              </a:spcBef>
            </a:pPr>
            <a:r>
              <a:rPr lang="en-US" sz="2600" b="1" spc="-31" dirty="0">
                <a:solidFill>
                  <a:srgbClr val="F5F7FA"/>
                </a:solidFill>
                <a:latin typeface="Inter Display"/>
                <a:cs typeface="Inter Display"/>
              </a:rPr>
              <a:t>May 2024: the worst flood in Rio Grande do Sul’s history.</a:t>
            </a:r>
          </a:p>
        </p:txBody>
      </p:sp>
      <p:sp>
        <p:nvSpPr>
          <p:cNvPr id="5" name="hero"/>
          <p:cNvSpPr txBox="1"/>
          <p:nvPr/>
        </p:nvSpPr>
        <p:spPr>
          <a:xfrm>
            <a:off x="533400" y="889000"/>
            <a:ext cx="6667500" cy="2667000"/>
          </a:xfrm>
          <a:prstGeom prst="rect">
            <a:avLst/>
          </a:prstGeom>
          <a:noFill/>
        </p:spPr>
        <p:txBody>
          <a:bodyPr wrap="none" lIns="0" tIns="0" rIns="0" bIns="0" anchor="t">
            <a:noAutofit/>
          </a:bodyPr>
          <a:lstStyle/>
          <a:p>
            <a:pPr algn="l">
              <a:lnSpc>
                <a:spcPct val="82645"/>
              </a:lnSpc>
              <a:spcBef>
                <a:spcPts val="0"/>
              </a:spcBef>
            </a:pPr>
            <a:r>
              <a:rPr lang="en-US" sz="19000" b="1" spc="-228" dirty="0">
                <a:solidFill>
                  <a:srgbClr val="FFB224"/>
                </a:solidFill>
                <a:latin typeface="Inter Display"/>
                <a:cs typeface="Inter Display"/>
              </a:rPr>
              <a:t>185</a:t>
            </a:r>
          </a:p>
        </p:txBody>
      </p:sp>
      <p:sp>
        <p:nvSpPr>
          <p:cNvPr id="6" name="hero_label"/>
          <p:cNvSpPr txBox="1"/>
          <p:nvPr/>
        </p:nvSpPr>
        <p:spPr>
          <a:xfrm>
            <a:off x="609600" y="3213100"/>
            <a:ext cx="6667500" cy="698500"/>
          </a:xfrm>
          <a:prstGeom prst="rect">
            <a:avLst/>
          </a:prstGeom>
          <a:noFill/>
        </p:spPr>
        <p:txBody>
          <a:bodyPr wrap="none" lIns="0" tIns="0" rIns="0" bIns="0" anchor="t">
            <a:noAutofit/>
          </a:bodyPr>
          <a:lstStyle/>
          <a:p>
            <a:pPr algn="l">
              <a:lnSpc>
                <a:spcPct val="95041"/>
              </a:lnSpc>
              <a:spcBef>
                <a:spcPts val="0"/>
              </a:spcBef>
            </a:pPr>
            <a:r>
              <a:rPr lang="en-US" sz="4400" b="1" spc="-53" dirty="0">
                <a:solidFill>
                  <a:srgbClr val="F5F7FA"/>
                </a:solidFill>
                <a:latin typeface="Inter Display"/>
                <a:cs typeface="Inter Display"/>
              </a:rPr>
              <a:t>lives lost</a:t>
            </a:r>
          </a:p>
        </p:txBody>
      </p:sp>
      <p:sp>
        <p:nvSpPr>
          <p:cNvPr id="7" name="stat1"/>
          <p:cNvSpPr txBox="1"/>
          <p:nvPr/>
        </p:nvSpPr>
        <p:spPr>
          <a:xfrm>
            <a:off x="609600" y="4699000"/>
            <a:ext cx="3302000" cy="952500"/>
          </a:xfrm>
          <a:prstGeom prst="rect">
            <a:avLst/>
          </a:prstGeom>
          <a:noFill/>
        </p:spPr>
        <p:txBody>
          <a:bodyPr wrap="none" lIns="0" tIns="0" rIns="0" bIns="0" anchor="t">
            <a:noAutofit/>
          </a:bodyPr>
          <a:lstStyle/>
          <a:p>
            <a:pPr algn="l">
              <a:lnSpc>
                <a:spcPct val="95041"/>
              </a:lnSpc>
              <a:spcBef>
                <a:spcPts val="0"/>
              </a:spcBef>
            </a:pPr>
            <a:r>
              <a:rPr lang="en-US" sz="3200" b="1" spc="-38" dirty="0">
                <a:solidFill>
                  <a:srgbClr val="F5F7FA"/>
                </a:solidFill>
                <a:latin typeface="Inter Display"/>
                <a:cs typeface="Inter Display"/>
              </a:rPr>
              <a:t>2.4 million</a:t>
            </a:r>
          </a:p>
          <a:p>
            <a:pPr algn="l">
              <a:lnSpc>
                <a:spcPct val="95041"/>
              </a:lnSpc>
              <a:spcBef>
                <a:spcPts val="0"/>
              </a:spcBef>
            </a:pPr>
            <a:r>
              <a:rPr lang="en-US" sz="1700" spc="-17" dirty="0">
                <a:solidFill>
                  <a:srgbClr val="F5F7FA">
                    <a:alpha val="90000"/>
                  </a:srgbClr>
                </a:solidFill>
                <a:latin typeface="Inter"/>
                <a:cs typeface="Inter"/>
              </a:rPr>
              <a:t>people affected</a:t>
            </a:r>
          </a:p>
        </p:txBody>
      </p:sp>
      <p:sp>
        <p:nvSpPr>
          <p:cNvPr id="8" name="stat2"/>
          <p:cNvSpPr txBox="1"/>
          <p:nvPr/>
        </p:nvSpPr>
        <p:spPr>
          <a:xfrm>
            <a:off x="3937000" y="4699000"/>
            <a:ext cx="3302000" cy="952500"/>
          </a:xfrm>
          <a:prstGeom prst="rect">
            <a:avLst/>
          </a:prstGeom>
          <a:noFill/>
        </p:spPr>
        <p:txBody>
          <a:bodyPr wrap="none" lIns="0" tIns="0" rIns="0" bIns="0" anchor="t">
            <a:noAutofit/>
          </a:bodyPr>
          <a:lstStyle/>
          <a:p>
            <a:pPr algn="l">
              <a:lnSpc>
                <a:spcPct val="95041"/>
              </a:lnSpc>
              <a:spcBef>
                <a:spcPts val="0"/>
              </a:spcBef>
            </a:pPr>
            <a:r>
              <a:rPr lang="en-US" sz="3200" b="1" spc="-38" dirty="0">
                <a:solidFill>
                  <a:srgbClr val="F5F7FA"/>
                </a:solidFill>
                <a:latin typeface="Inter Display"/>
                <a:cs typeface="Inter Display"/>
              </a:rPr>
              <a:t>478 of 497</a:t>
            </a:r>
          </a:p>
          <a:p>
            <a:pPr algn="l">
              <a:lnSpc>
                <a:spcPct val="95041"/>
              </a:lnSpc>
              <a:spcBef>
                <a:spcPts val="0"/>
              </a:spcBef>
            </a:pPr>
            <a:r>
              <a:rPr lang="en-US" sz="1700" spc="-17" dirty="0">
                <a:solidFill>
                  <a:srgbClr val="F5F7FA">
                    <a:alpha val="90000"/>
                  </a:srgbClr>
                </a:solidFill>
                <a:latin typeface="Inter"/>
                <a:cs typeface="Inter"/>
              </a:rPr>
              <a:t>municipalities hit</a:t>
            </a:r>
          </a:p>
        </p:txBody>
      </p:sp>
      <p:sp>
        <p:nvSpPr>
          <p:cNvPr id="9" name="gauge_base"/>
          <p:cNvSpPr/>
          <p:nvPr/>
        </p:nvSpPr>
        <p:spPr>
          <a:xfrm>
            <a:off x="6985000" y="5651500"/>
            <a:ext cx="1524000" cy="25400"/>
          </a:xfrm>
          <a:prstGeom prst="rect">
            <a:avLst/>
          </a:prstGeom>
          <a:solidFill>
            <a:srgbClr val="F5F7FA">
              <a:alpha val="60000"/>
            </a:srgbClr>
          </a:solidFill>
          <a:ln>
            <a:noFill/>
          </a:ln>
        </p:spPr>
      </p:sp>
      <p:sp>
        <p:nvSpPr>
          <p:cNvPr id="10" name="gauge_water"/>
          <p:cNvSpPr/>
          <p:nvPr/>
        </p:nvSpPr>
        <p:spPr>
          <a:xfrm>
            <a:off x="7112000" y="1914525"/>
            <a:ext cx="1270000" cy="3736975"/>
          </a:xfrm>
          <a:prstGeom prst="roundRect">
            <a:avLst>
              <a:gd name="adj" fmla="val 5000"/>
            </a:avLst>
          </a:prstGeom>
          <a:solidFill>
            <a:srgbClr val="3BA3FF">
              <a:alpha val="88000"/>
            </a:srgbClr>
          </a:solidFill>
          <a:ln>
            <a:noFill/>
          </a:ln>
        </p:spPr>
      </p:sp>
      <p:sp>
        <p:nvSpPr>
          <p:cNvPr id="11" name="gauge_2024"/>
          <p:cNvSpPr/>
          <p:nvPr/>
        </p:nvSpPr>
        <p:spPr>
          <a:xfrm>
            <a:off x="7112000" y="1914525"/>
            <a:ext cx="1460500" cy="6350"/>
          </a:xfrm>
          <a:custGeom>
            <a:avLst/>
            <a:gdLst/>
            <a:ahLst/>
            <a:cxnLst/>
            <a:rect l="0" t="0" r="r" b="b"/>
            <a:pathLst>
              <a:path w="1460500" h="6350" fill="none">
                <a:moveTo>
                  <a:pt x="0" y="0"/>
                </a:moveTo>
                <a:lnTo>
                  <a:pt x="1460500" y="0"/>
                </a:lnTo>
              </a:path>
            </a:pathLst>
          </a:custGeom>
          <a:noFill/>
          <a:ln w="31750" cap="rnd">
            <a:solidFill>
              <a:srgbClr val="3BA3FF"/>
            </a:solidFill>
            <a:round/>
          </a:ln>
        </p:spPr>
      </p:sp>
      <p:sp>
        <p:nvSpPr>
          <p:cNvPr id="12" name="gauge_1941"/>
          <p:cNvSpPr/>
          <p:nvPr/>
        </p:nvSpPr>
        <p:spPr>
          <a:xfrm>
            <a:off x="7112000" y="2326640"/>
            <a:ext cx="1460500" cy="6350"/>
          </a:xfrm>
          <a:custGeom>
            <a:avLst/>
            <a:gdLst/>
            <a:ahLst/>
            <a:cxnLst/>
            <a:rect l="0" t="0" r="r" b="b"/>
            <a:pathLst>
              <a:path w="1460500" h="6350" fill="none">
                <a:moveTo>
                  <a:pt x="0" y="0"/>
                </a:moveTo>
                <a:lnTo>
                  <a:pt x="1460500" y="0"/>
                </a:lnTo>
              </a:path>
            </a:pathLst>
          </a:custGeom>
          <a:noFill/>
          <a:ln w="31750" cap="rnd">
            <a:solidFill>
              <a:srgbClr val="F5F7FA">
                <a:alpha val="95000"/>
              </a:srgbClr>
            </a:solidFill>
            <a:prstDash val="dash"/>
            <a:round/>
          </a:ln>
        </p:spPr>
      </p:sp>
      <p:sp>
        <p:nvSpPr>
          <p:cNvPr id="13" name="gauge_2024_l"/>
          <p:cNvSpPr txBox="1"/>
          <p:nvPr/>
        </p:nvSpPr>
        <p:spPr>
          <a:xfrm>
            <a:off x="8636000" y="1254125"/>
            <a:ext cx="2286000" cy="8255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85000"/>
                  </a:srgbClr>
                </a:solidFill>
                <a:latin typeface="Inter"/>
                <a:cs typeface="Inter"/>
              </a:rPr>
              <a:t>May 2024</a:t>
            </a:r>
          </a:p>
          <a:p>
            <a:pPr algn="l">
              <a:lnSpc>
                <a:spcPct val="95041"/>
              </a:lnSpc>
              <a:spcBef>
                <a:spcPts val="0"/>
              </a:spcBef>
            </a:pPr>
            <a:r>
              <a:rPr lang="en-US" sz="3600" b="1" spc="-43" dirty="0">
                <a:solidFill>
                  <a:srgbClr val="3BA3FF"/>
                </a:solidFill>
                <a:latin typeface="Inter Display"/>
                <a:cs typeface="Inter Display"/>
              </a:rPr>
              <a:t>5.35 m</a:t>
            </a:r>
          </a:p>
        </p:txBody>
      </p:sp>
      <p:sp>
        <p:nvSpPr>
          <p:cNvPr id="14" name="gauge_1941_l"/>
          <p:cNvSpPr txBox="1"/>
          <p:nvPr/>
        </p:nvSpPr>
        <p:spPr>
          <a:xfrm>
            <a:off x="8636000" y="2440940"/>
            <a:ext cx="2286000" cy="7620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85000"/>
                  </a:srgbClr>
                </a:solidFill>
                <a:latin typeface="Inter"/>
                <a:cs typeface="Inter"/>
              </a:rPr>
              <a:t>1941 record</a:t>
            </a:r>
          </a:p>
          <a:p>
            <a:pPr algn="l">
              <a:lnSpc>
                <a:spcPct val="95041"/>
              </a:lnSpc>
              <a:spcBef>
                <a:spcPts val="0"/>
              </a:spcBef>
            </a:pPr>
            <a:r>
              <a:rPr lang="en-US" sz="2800" b="1" spc="-34" dirty="0">
                <a:solidFill>
                  <a:srgbClr val="F5F7FA"/>
                </a:solidFill>
                <a:latin typeface="Inter Display"/>
                <a:cs typeface="Inter Display"/>
              </a:rPr>
              <a:t>4.76 m</a:t>
            </a:r>
          </a:p>
        </p:txBody>
      </p:sp>
      <p:sp>
        <p:nvSpPr>
          <p:cNvPr id="15" name="gauge_cap"/>
          <p:cNvSpPr txBox="1"/>
          <p:nvPr/>
        </p:nvSpPr>
        <p:spPr>
          <a:xfrm>
            <a:off x="7112000" y="5791200"/>
            <a:ext cx="4064000" cy="635000"/>
          </a:xfrm>
          <a:prstGeom prst="rect">
            <a:avLst/>
          </a:prstGeom>
          <a:noFill/>
        </p:spPr>
        <p:txBody>
          <a:bodyPr wrap="none" lIns="0" tIns="0" rIns="0" bIns="0" anchor="t">
            <a:noAutofit/>
          </a:bodyPr>
          <a:lstStyle/>
          <a:p>
            <a:pPr algn="l">
              <a:lnSpc>
                <a:spcPct val="95041"/>
              </a:lnSpc>
              <a:spcBef>
                <a:spcPts val="0"/>
              </a:spcBef>
            </a:pPr>
            <a:r>
              <a:rPr lang="en-US" sz="1600" b="1" spc="0" dirty="0">
                <a:solidFill>
                  <a:srgbClr val="F5F7FA"/>
                </a:solidFill>
                <a:latin typeface="Inter"/>
                <a:cs typeface="Inter"/>
              </a:rPr>
              <a:t>Guaíba river, Porto Alegre</a:t>
            </a:r>
          </a:p>
          <a:p>
            <a:pPr algn="l">
              <a:lnSpc>
                <a:spcPct val="95041"/>
              </a:lnSpc>
              <a:spcBef>
                <a:spcPts val="300"/>
              </a:spcBef>
            </a:pPr>
            <a:r>
              <a:rPr lang="en-US" sz="1600" spc="0" dirty="0">
                <a:solidFill>
                  <a:srgbClr val="3BA3FF"/>
                </a:solidFill>
                <a:latin typeface="Inter SemiBold"/>
                <a:cs typeface="Inter SemiBold"/>
              </a:rPr>
              <a:t>59 cm above the 1941 record</a:t>
            </a:r>
          </a:p>
        </p:txBody>
      </p:sp>
      <p:sp>
        <p:nvSpPr>
          <p:cNvPr id="16"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Defesa Civil RS (final bulletin, 19 Aug 2025); G1 / Serviço Geológico do Brasil</a:t>
            </a:r>
          </a:p>
        </p:txBody>
      </p:sp>
      <p:sp>
        <p:nvSpPr>
          <p:cNvPr id="17"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3"/>
          <p:cNvSpPr/>
          <p:nvPr/>
        </p:nvSpPr>
        <p:spPr>
          <a:xfrm>
            <a:off x="0" y="0"/>
            <a:ext cx="12192000" cy="6858000"/>
          </a:xfrm>
          <a:prstGeom prst="rect">
            <a:avLst/>
          </a:prstGeom>
          <a:solidFill>
            <a:srgbClr val="05080C"/>
          </a:solidFill>
          <a:ln>
            <a:noFill/>
          </a:ln>
        </p:spPr>
      </p:sp>
      <p:pic>
        <p:nvPicPr>
          <p:cNvPr id="4" name="photo_s3"/>
          <p:cNvPicPr>
            <a:picLocks noChangeAspect="1"/>
          </p:cNvPicPr>
          <p:nvPr/>
        </p:nvPicPr>
        <p:blipFill>
          <a:blip r:embed="rId2"/>
          <a:srcRect l="19792" t="0" r="19792" b="0"/>
          <a:stretch>
            <a:fillRect/>
          </a:stretch>
        </p:blipFill>
        <p:spPr>
          <a:xfrm>
            <a:off x="4826000" y="0"/>
            <a:ext cx="7366000" cy="6858000"/>
          </a:xfrm>
          <a:prstGeom prst="rect">
            <a:avLst/>
          </a:prstGeom>
        </p:spPr>
      </p:pic>
      <p:sp>
        <p:nvSpPr>
          <p:cNvPr id="5" name="scrim"/>
          <p:cNvSpPr/>
          <p:nvPr/>
        </p:nvSpPr>
        <p:spPr>
          <a:xfrm>
            <a:off x="4826000" y="0"/>
            <a:ext cx="3810000" cy="6858000"/>
          </a:xfrm>
          <a:prstGeom prst="rect">
            <a:avLst/>
          </a:prstGeom>
          <a:gradFill rotWithShape="1">
            <a:gsLst>
              <a:gs pos="0">
                <a:srgbClr val="05080C"/>
              </a:gs>
              <a:gs pos="45000">
                <a:srgbClr val="05080C">
                  <a:alpha val="70000"/>
                </a:srgbClr>
              </a:gs>
              <a:gs pos="100000">
                <a:srgbClr val="05080C">
                  <a:alpha val="0"/>
                </a:srgbClr>
              </a:gs>
            </a:gsLst>
            <a:lin ang="0" scaled="0"/>
          </a:gradFill>
          <a:ln>
            <a:noFill/>
          </a:ln>
        </p:spPr>
      </p:sp>
      <p:sp>
        <p:nvSpPr>
          <p:cNvPr id="6" name="foot_band"/>
          <p:cNvSpPr/>
          <p:nvPr/>
        </p:nvSpPr>
        <p:spPr>
          <a:xfrm>
            <a:off x="0" y="5461000"/>
            <a:ext cx="12192000" cy="1397000"/>
          </a:xfrm>
          <a:prstGeom prst="rect">
            <a:avLst/>
          </a:prstGeom>
          <a:gradFill rotWithShape="1">
            <a:gsLst>
              <a:gs pos="0">
                <a:srgbClr val="05080C">
                  <a:alpha val="0"/>
                </a:srgbClr>
              </a:gs>
              <a:gs pos="100000">
                <a:srgbClr val="05080C">
                  <a:alpha val="85000"/>
                </a:srgbClr>
              </a:gs>
            </a:gsLst>
            <a:lin ang="5400000" scaled="0"/>
          </a:gradFill>
          <a:ln>
            <a:noFill/>
          </a:ln>
        </p:spPr>
      </p:sp>
      <p:sp>
        <p:nvSpPr>
          <p:cNvPr id="7" name="headline"/>
          <p:cNvSpPr txBox="1"/>
          <p:nvPr/>
        </p:nvSpPr>
        <p:spPr>
          <a:xfrm>
            <a:off x="609600" y="571500"/>
            <a:ext cx="6350000" cy="1295400"/>
          </a:xfrm>
          <a:prstGeom prst="rect">
            <a:avLst/>
          </a:prstGeom>
          <a:noFill/>
        </p:spPr>
        <p:txBody>
          <a:bodyPr wrap="none" lIns="0" tIns="0" rIns="0" bIns="0" anchor="t">
            <a:noAutofit/>
          </a:bodyPr>
          <a:lstStyle/>
          <a:p>
            <a:pPr algn="l">
              <a:lnSpc>
                <a:spcPct val="87603"/>
              </a:lnSpc>
              <a:spcBef>
                <a:spcPts val="0"/>
              </a:spcBef>
            </a:pPr>
            <a:r>
              <a:rPr lang="en-US" sz="4400" b="1" spc="-53" dirty="0">
                <a:solidFill>
                  <a:srgbClr val="F5F7FA"/>
                </a:solidFill>
                <a:latin typeface="Inter Display"/>
                <a:cs typeface="Inter Display"/>
              </a:rPr>
              <a:t>Calls came</a:t>
            </a:r>
            <a:br>
              <a:rPr lang="en-US" sz="4400" b="1" spc="-53" dirty="0">
                <a:solidFill>
                  <a:srgbClr val="F5F7FA"/>
                </a:solidFill>
                <a:latin typeface="Inter Display"/>
                <a:cs typeface="Inter Display"/>
              </a:rPr>
            </a:br>
            <a:r>
              <a:rPr lang="en-US" sz="4400" b="1" spc="-53" dirty="0">
                <a:solidFill>
                  <a:srgbClr val="F5F7FA"/>
                </a:solidFill>
                <a:latin typeface="Inter Display"/>
                <a:cs typeface="Inter Display"/>
              </a:rPr>
              <a:t>from everywhere.</a:t>
            </a:r>
          </a:p>
        </p:txBody>
      </p:sp>
      <p:sp>
        <p:nvSpPr>
          <p:cNvPr id="8" name="hero"/>
          <p:cNvSpPr txBox="1"/>
          <p:nvPr/>
        </p:nvSpPr>
        <p:spPr>
          <a:xfrm>
            <a:off x="571500" y="2349500"/>
            <a:ext cx="6350000" cy="1301750"/>
          </a:xfrm>
          <a:prstGeom prst="rect">
            <a:avLst/>
          </a:prstGeom>
          <a:noFill/>
        </p:spPr>
        <p:txBody>
          <a:bodyPr wrap="none" lIns="0" tIns="0" rIns="0" bIns="0" anchor="t">
            <a:noAutofit/>
          </a:bodyPr>
          <a:lstStyle/>
          <a:p>
            <a:pPr algn="l">
              <a:lnSpc>
                <a:spcPct val="82645"/>
              </a:lnSpc>
              <a:spcBef>
                <a:spcPts val="0"/>
              </a:spcBef>
            </a:pPr>
            <a:r>
              <a:rPr lang="en-US" sz="8200" b="1" spc="-98" dirty="0">
                <a:solidFill>
                  <a:srgbClr val="FFB224"/>
                </a:solidFill>
                <a:latin typeface="Inter Display"/>
                <a:cs typeface="Inter Display"/>
              </a:rPr>
              <a:t>77,000+</a:t>
            </a:r>
          </a:p>
        </p:txBody>
      </p:sp>
      <p:sp>
        <p:nvSpPr>
          <p:cNvPr id="9" name="hero_label"/>
          <p:cNvSpPr txBox="1"/>
          <p:nvPr/>
        </p:nvSpPr>
        <p:spPr>
          <a:xfrm>
            <a:off x="609600" y="3632200"/>
            <a:ext cx="5715000" cy="444500"/>
          </a:xfrm>
          <a:prstGeom prst="rect">
            <a:avLst/>
          </a:prstGeom>
          <a:noFill/>
        </p:spPr>
        <p:txBody>
          <a:bodyPr wrap="none" lIns="0" tIns="0" rIns="0" bIns="0" anchor="t">
            <a:noAutofit/>
          </a:bodyPr>
          <a:lstStyle/>
          <a:p>
            <a:pPr algn="l">
              <a:lnSpc>
                <a:spcPct val="95041"/>
              </a:lnSpc>
              <a:spcBef>
                <a:spcPts val="0"/>
              </a:spcBef>
            </a:pPr>
            <a:r>
              <a:rPr lang="en-US" sz="3000" b="1" spc="-36" dirty="0">
                <a:solidFill>
                  <a:srgbClr val="F5F7FA"/>
                </a:solidFill>
                <a:latin typeface="Inter Display"/>
                <a:cs typeface="Inter Display"/>
              </a:rPr>
              <a:t>people rescued</a:t>
            </a:r>
          </a:p>
        </p:txBody>
      </p:sp>
      <p:sp>
        <p:nvSpPr>
          <p:cNvPr id="10" name="body"/>
          <p:cNvSpPr txBox="1"/>
          <p:nvPr/>
        </p:nvSpPr>
        <p:spPr>
          <a:xfrm>
            <a:off x="609600" y="4445000"/>
            <a:ext cx="6350000" cy="825500"/>
          </a:xfrm>
          <a:prstGeom prst="rect">
            <a:avLst/>
          </a:prstGeom>
          <a:noFill/>
        </p:spPr>
        <p:txBody>
          <a:bodyPr wrap="none" lIns="0" tIns="0" rIns="0" bIns="0" anchor="t">
            <a:noAutofit/>
          </a:bodyPr>
          <a:lstStyle/>
          <a:p>
            <a:pPr algn="l">
              <a:lnSpc>
                <a:spcPct val="99174"/>
              </a:lnSpc>
              <a:spcBef>
                <a:spcPts val="0"/>
              </a:spcBef>
            </a:pPr>
            <a:r>
              <a:rPr lang="en-US" sz="2400" spc="-29" dirty="0">
                <a:solidFill>
                  <a:srgbClr val="F5F7FA"/>
                </a:solidFill>
                <a:latin typeface="Inter SemiBold"/>
                <a:cs typeface="Inter SemiBold"/>
              </a:rPr>
              <a:t>Dozens of WhatsApp groups.</a:t>
            </a:r>
            <a:br>
              <a:rPr lang="en-US" sz="2400" spc="-29" dirty="0">
                <a:solidFill>
                  <a:srgbClr val="F5F7FA"/>
                </a:solidFill>
                <a:latin typeface="Inter SemiBold"/>
                <a:cs typeface="Inter SemiBold"/>
              </a:rPr>
            </a:br>
            <a:r>
              <a:rPr lang="en-US" sz="2400" spc="-29" dirty="0">
                <a:solidFill>
                  <a:srgbClr val="F5F7FA"/>
                </a:solidFill>
                <a:latin typeface="Inter SemiBold"/>
                <a:cs typeface="Inter SemiBold"/>
              </a:rPr>
              <a:t>No shared picture.</a:t>
            </a:r>
          </a:p>
        </p:txBody>
      </p:sp>
      <p:sp>
        <p:nvSpPr>
          <p:cNvPr id="11" name="users"/>
          <p:cNvSpPr txBox="1"/>
          <p:nvPr/>
        </p:nvSpPr>
        <p:spPr>
          <a:xfrm>
            <a:off x="609600" y="5397500"/>
            <a:ext cx="6985000" cy="7620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a:cs typeface="Inter"/>
              </a:rPr>
              <a:t>For civil-defence dispatch rooms and</a:t>
            </a:r>
          </a:p>
          <a:p>
            <a:pPr algn="l">
              <a:lnSpc>
                <a:spcPct val="95041"/>
              </a:lnSpc>
              <a:spcBef>
                <a:spcPts val="0"/>
              </a:spcBef>
            </a:pPr>
            <a:r>
              <a:rPr lang="en-US" sz="2000" b="1" spc="-20" dirty="0">
                <a:solidFill>
                  <a:srgbClr val="F5F7FA"/>
                </a:solidFill>
                <a:latin typeface="Inter"/>
                <a:cs typeface="Inter"/>
              </a:rPr>
              <a:t>volunteer rescue coordinators.</a:t>
            </a:r>
          </a:p>
        </p:txBody>
      </p:sp>
      <p:sp>
        <p:nvSpPr>
          <p:cNvPr id="12"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Defesa Civil RS (30 May 2024); Exame; Agência Lupa · Photo: Laranjal, Pelotas, 10 May 2024 · M. Corvello / Pref. de Pelotas · public domain</a:t>
            </a:r>
          </a:p>
        </p:txBody>
      </p:sp>
      <p:sp>
        <p:nvSpPr>
          <p:cNvPr id="13"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622300"/>
          </a:xfrm>
          <a:prstGeom prst="rect">
            <a:avLst/>
          </a:prstGeom>
          <a:noFill/>
        </p:spPr>
        <p:txBody>
          <a:bodyPr wrap="none" lIns="0" tIns="0" rIns="0" bIns="0" anchor="t">
            <a:noAutofit/>
          </a:bodyPr>
          <a:lstStyle/>
          <a:p>
            <a:pPr algn="l">
              <a:lnSpc>
                <a:spcPct val="87603"/>
              </a:lnSpc>
              <a:spcBef>
                <a:spcPts val="0"/>
              </a:spcBef>
            </a:pPr>
            <a:r>
              <a:rPr lang="en-US" sz="4000" b="1" spc="-48" dirty="0">
                <a:solidFill>
                  <a:srgbClr val="F5F7FA"/>
                </a:solidFill>
                <a:latin typeface="Inter Display"/>
                <a:cs typeface="Inter Display"/>
              </a:rPr>
              <a:t>A strong El Niño is coming again.</a:t>
            </a:r>
          </a:p>
        </p:txBody>
      </p:sp>
      <p:sp>
        <p:nvSpPr>
          <p:cNvPr id="5" name="hero"/>
          <p:cNvSpPr txBox="1"/>
          <p:nvPr/>
        </p:nvSpPr>
        <p:spPr>
          <a:xfrm>
            <a:off x="546100" y="1460500"/>
            <a:ext cx="6985000" cy="2413000"/>
          </a:xfrm>
          <a:prstGeom prst="rect">
            <a:avLst/>
          </a:prstGeom>
          <a:noFill/>
        </p:spPr>
        <p:txBody>
          <a:bodyPr wrap="none" lIns="0" tIns="0" rIns="0" bIns="0" anchor="t">
            <a:noAutofit/>
          </a:bodyPr>
          <a:lstStyle/>
          <a:p>
            <a:pPr algn="l">
              <a:lnSpc>
                <a:spcPct val="82645"/>
              </a:lnSpc>
              <a:spcBef>
                <a:spcPts val="0"/>
              </a:spcBef>
            </a:pPr>
            <a:r>
              <a:rPr lang="en-US" sz="16500" b="1" spc="-198" dirty="0">
                <a:solidFill>
                  <a:srgbClr val="FFB224"/>
                </a:solidFill>
                <a:latin typeface="Inter Display"/>
                <a:cs typeface="Inter Display"/>
              </a:rPr>
              <a:t>83%</a:t>
            </a:r>
          </a:p>
        </p:txBody>
      </p:sp>
      <p:sp>
        <p:nvSpPr>
          <p:cNvPr id="6" name="hero_label"/>
          <p:cNvSpPr txBox="1"/>
          <p:nvPr/>
        </p:nvSpPr>
        <p:spPr>
          <a:xfrm>
            <a:off x="609600" y="3937000"/>
            <a:ext cx="9525000" cy="889000"/>
          </a:xfrm>
          <a:prstGeom prst="rect">
            <a:avLst/>
          </a:prstGeom>
          <a:noFill/>
        </p:spPr>
        <p:txBody>
          <a:bodyPr wrap="none" lIns="0" tIns="0" rIns="0" bIns="0" anchor="t">
            <a:noAutofit/>
          </a:bodyPr>
          <a:lstStyle/>
          <a:p>
            <a:pPr algn="l">
              <a:lnSpc>
                <a:spcPct val="95041"/>
              </a:lnSpc>
              <a:spcBef>
                <a:spcPts val="0"/>
              </a:spcBef>
            </a:pPr>
            <a:r>
              <a:rPr lang="en-US" sz="2800" spc="-34" dirty="0">
                <a:solidFill>
                  <a:srgbClr val="F5F7FA"/>
                </a:solidFill>
                <a:latin typeface="Inter SemiBold"/>
                <a:cs typeface="Inter SemiBold"/>
              </a:rPr>
              <a:t>chance of a strong-to-very-strong El Niño</a:t>
            </a:r>
            <a:br>
              <a:rPr lang="en-US" sz="2800" spc="-34" dirty="0">
                <a:solidFill>
                  <a:srgbClr val="F5F7FA"/>
                </a:solidFill>
                <a:latin typeface="Inter SemiBold"/>
                <a:cs typeface="Inter SemiBold"/>
              </a:rPr>
            </a:br>
            <a:r>
              <a:rPr lang="en-US" sz="2800" spc="-34" dirty="0">
                <a:solidFill>
                  <a:srgbClr val="F5F7FA"/>
                </a:solidFill>
                <a:latin typeface="Inter SemiBold"/>
                <a:cs typeface="Inter SemiBold"/>
              </a:rPr>
              <a:t>through early 2027</a:t>
            </a:r>
          </a:p>
        </p:txBody>
      </p:sp>
      <p:sp>
        <p:nvSpPr>
          <p:cNvPr id="7" name="bar_bg"/>
          <p:cNvSpPr/>
          <p:nvPr/>
        </p:nvSpPr>
        <p:spPr>
          <a:xfrm>
            <a:off x="609600" y="5270500"/>
            <a:ext cx="10972800" cy="139700"/>
          </a:xfrm>
          <a:prstGeom prst="roundRect">
            <a:avLst>
              <a:gd name="adj" fmla="val 50000"/>
            </a:avLst>
          </a:prstGeom>
          <a:solidFill>
            <a:srgbClr val="FFFFFF">
              <a:alpha val="10000"/>
            </a:srgbClr>
          </a:solidFill>
          <a:ln>
            <a:noFill/>
          </a:ln>
        </p:spPr>
      </p:sp>
      <p:sp>
        <p:nvSpPr>
          <p:cNvPr id="8" name="bar"/>
          <p:cNvSpPr/>
          <p:nvPr/>
        </p:nvSpPr>
        <p:spPr>
          <a:xfrm>
            <a:off x="609600" y="5270500"/>
            <a:ext cx="9105900" cy="139700"/>
          </a:xfrm>
          <a:prstGeom prst="roundRect">
            <a:avLst>
              <a:gd name="adj" fmla="val 50000"/>
            </a:avLst>
          </a:prstGeom>
          <a:solidFill>
            <a:srgbClr val="FFB224"/>
          </a:solidFill>
          <a:ln>
            <a:noFill/>
          </a:ln>
        </p:spPr>
      </p:sp>
      <p:sp>
        <p:nvSpPr>
          <p:cNvPr id="9" name="why"/>
          <p:cNvSpPr txBox="1"/>
          <p:nvPr/>
        </p:nvSpPr>
        <p:spPr>
          <a:xfrm>
            <a:off x="609600" y="5651500"/>
            <a:ext cx="10972800" cy="3810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alpha val="92000"/>
                  </a:srgbClr>
                </a:solidFill>
                <a:latin typeface="Inter Medium"/>
                <a:cs typeface="Inter Medium"/>
              </a:rPr>
              <a:t>The next flood season will need every call answered, fast.</a:t>
            </a:r>
          </a:p>
        </p:txBody>
      </p:sp>
      <p:sp>
        <p:nvSpPr>
          <p:cNvPr id="10"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NOAA Climate Prediction Center, ENSO discussion, 8 Oct 2026</a:t>
            </a:r>
          </a:p>
        </p:txBody>
      </p:sp>
      <p:sp>
        <p:nvSpPr>
          <p:cNvPr id="11"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9690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One call for help. The agents read it.</a:t>
            </a:r>
          </a:p>
        </p:txBody>
      </p:sp>
      <p:sp>
        <p:nvSpPr>
          <p:cNvPr id="5" name="bubble"/>
          <p:cNvSpPr/>
          <p:nvPr/>
        </p:nvSpPr>
        <p:spPr>
          <a:xfrm>
            <a:off x="609600" y="1460500"/>
            <a:ext cx="5715000" cy="4572000"/>
          </a:xfrm>
          <a:prstGeom prst="roundRect">
            <a:avLst>
              <a:gd name="adj" fmla="val 3889"/>
            </a:avLst>
          </a:prstGeom>
          <a:solidFill>
            <a:srgbClr val="1F2C34"/>
          </a:solidFill>
          <a:ln>
            <a:noFill/>
          </a:ln>
        </p:spPr>
      </p:sp>
      <p:sp>
        <p:nvSpPr>
          <p:cNvPr id="6" name="wa"/>
          <p:cNvSpPr txBox="1"/>
          <p:nvPr/>
        </p:nvSpPr>
        <p:spPr>
          <a:xfrm>
            <a:off x="914400" y="1714500"/>
            <a:ext cx="5105400" cy="254000"/>
          </a:xfrm>
          <a:prstGeom prst="rect">
            <a:avLst/>
          </a:prstGeom>
          <a:noFill/>
        </p:spPr>
        <p:txBody>
          <a:bodyPr wrap="none" lIns="0" tIns="0" rIns="0" bIns="0" anchor="t">
            <a:noAutofit/>
          </a:bodyPr>
          <a:lstStyle/>
          <a:p>
            <a:pPr algn="l">
              <a:lnSpc>
                <a:spcPct val="95041"/>
              </a:lnSpc>
              <a:spcBef>
                <a:spcPts val="0"/>
              </a:spcBef>
            </a:pPr>
            <a:r>
              <a:rPr lang="en-US" sz="1400" spc="0" dirty="0">
                <a:solidFill>
                  <a:srgbClr val="2BD47D"/>
                </a:solidFill>
                <a:latin typeface="Inter SemiBold"/>
                <a:cs typeface="Inter SemiBold"/>
              </a:rPr>
              <a:t>WhatsApp · 6 May 2024, 12:00 · replay</a:t>
            </a:r>
          </a:p>
        </p:txBody>
      </p:sp>
      <p:sp>
        <p:nvSpPr>
          <p:cNvPr id="7" name="msg_en"/>
          <p:cNvSpPr txBox="1"/>
          <p:nvPr/>
        </p:nvSpPr>
        <p:spPr>
          <a:xfrm>
            <a:off x="914400" y="2120900"/>
            <a:ext cx="5105400" cy="2159000"/>
          </a:xfrm>
          <a:prstGeom prst="rect">
            <a:avLst/>
          </a:prstGeom>
          <a:noFill/>
        </p:spPr>
        <p:txBody>
          <a:bodyPr wrap="none" lIns="0" tIns="0" rIns="0" bIns="0" anchor="t">
            <a:noAutofit/>
          </a:bodyPr>
          <a:lstStyle/>
          <a:p>
            <a:pPr algn="l">
              <a:lnSpc>
                <a:spcPct val="103306"/>
              </a:lnSpc>
              <a:spcBef>
                <a:spcPts val="0"/>
              </a:spcBef>
            </a:pPr>
            <a:r>
              <a:rPr lang="en-US" sz="2400" spc="-29" dirty="0">
                <a:solidFill>
                  <a:srgbClr val="F5F7FA"/>
                </a:solidFill>
                <a:latin typeface="Inter SemiBold"/>
                <a:cs typeface="Inter SemiBold"/>
              </a:rPr>
              <a:t>“Help!! We’re on the second floor</a:t>
            </a:r>
            <a:br>
              <a:rPr lang="en-US" sz="2400" spc="-29" dirty="0">
                <a:solidFill>
                  <a:srgbClr val="F5F7FA"/>
                </a:solidFill>
                <a:latin typeface="Inter SemiBold"/>
                <a:cs typeface="Inter SemiBold"/>
              </a:rPr>
            </a:br>
            <a:r>
              <a:rPr lang="en-US" sz="2400" spc="-29" dirty="0">
                <a:solidFill>
                  <a:srgbClr val="F5F7FA"/>
                </a:solidFill>
                <a:latin typeface="Inter SemiBold"/>
                <a:cs typeface="Inter SemiBold"/>
              </a:rPr>
              <a:t>at Voluntários da Pátria 1067,</a:t>
            </a:r>
            <a:br>
              <a:rPr lang="en-US" sz="2400" spc="-29" dirty="0">
                <a:solidFill>
                  <a:srgbClr val="F5F7FA"/>
                </a:solidFill>
                <a:latin typeface="Inter SemiBold"/>
                <a:cs typeface="Inter SemiBold"/>
              </a:rPr>
            </a:br>
            <a:r>
              <a:rPr lang="en-US" sz="2400" spc="-29" dirty="0">
                <a:solidFill>
                  <a:srgbClr val="F5F7FA"/>
                </a:solidFill>
                <a:latin typeface="Inter SemiBold"/>
                <a:cs typeface="Inter SemiBold"/>
              </a:rPr>
              <a:t>Porto Alegre: me, my bedridden</a:t>
            </a:r>
            <a:br>
              <a:rPr lang="en-US" sz="2400" spc="-29" dirty="0">
                <a:solidFill>
                  <a:srgbClr val="F5F7FA"/>
                </a:solidFill>
                <a:latin typeface="Inter SemiBold"/>
                <a:cs typeface="Inter SemiBold"/>
              </a:rPr>
            </a:br>
            <a:r>
              <a:rPr lang="en-US" sz="2400" spc="-29" dirty="0">
                <a:solidFill>
                  <a:srgbClr val="F5F7FA"/>
                </a:solidFill>
                <a:latin typeface="Inter SemiBold"/>
                <a:cs typeface="Inter SemiBold"/>
              </a:rPr>
              <a:t>mother and my 8-year-old son.</a:t>
            </a:r>
            <a:br>
              <a:rPr lang="en-US" sz="2400" spc="-29" dirty="0">
                <a:solidFill>
                  <a:srgbClr val="F5F7FA"/>
                </a:solidFill>
                <a:latin typeface="Inter SemiBold"/>
                <a:cs typeface="Inter SemiBold"/>
              </a:rPr>
            </a:br>
            <a:r>
              <a:rPr lang="en-US" sz="2400" spc="-29" dirty="0">
                <a:solidFill>
                  <a:srgbClr val="F5F7FA"/>
                </a:solidFill>
                <a:latin typeface="Inter SemiBold"/>
                <a:cs typeface="Inter SemiBold"/>
              </a:rPr>
              <a:t>The water won’t stop rising.”</a:t>
            </a:r>
          </a:p>
        </p:txBody>
      </p:sp>
      <p:sp>
        <p:nvSpPr>
          <p:cNvPr id="8" name="rule"/>
          <p:cNvSpPr/>
          <p:nvPr/>
        </p:nvSpPr>
        <p:spPr>
          <a:xfrm>
            <a:off x="914400" y="4546600"/>
            <a:ext cx="5105400" cy="12700"/>
          </a:xfrm>
          <a:prstGeom prst="rect">
            <a:avLst/>
          </a:prstGeom>
          <a:solidFill>
            <a:srgbClr val="F5F7FA">
              <a:alpha val="20000"/>
            </a:srgbClr>
          </a:solidFill>
          <a:ln>
            <a:noFill/>
          </a:ln>
        </p:spPr>
      </p:sp>
      <p:sp>
        <p:nvSpPr>
          <p:cNvPr id="9" name="pt_label"/>
          <p:cNvSpPr txBox="1"/>
          <p:nvPr/>
        </p:nvSpPr>
        <p:spPr>
          <a:xfrm>
            <a:off x="914400" y="4711700"/>
            <a:ext cx="5105400" cy="228600"/>
          </a:xfrm>
          <a:prstGeom prst="rect">
            <a:avLst/>
          </a:prstGeom>
          <a:noFill/>
        </p:spPr>
        <p:txBody>
          <a:bodyPr wrap="none" lIns="0" tIns="0" rIns="0" bIns="0" anchor="t">
            <a:noAutofit/>
          </a:bodyPr>
          <a:lstStyle/>
          <a:p>
            <a:pPr algn="l">
              <a:lnSpc>
                <a:spcPct val="95041"/>
              </a:lnSpc>
              <a:spcBef>
                <a:spcPts val="0"/>
              </a:spcBef>
            </a:pPr>
            <a:r>
              <a:rPr lang="en-US" sz="1400" spc="0" dirty="0">
                <a:solidFill>
                  <a:srgbClr val="F5F7FA">
                    <a:alpha val="75000"/>
                  </a:srgbClr>
                </a:solidFill>
                <a:latin typeface="Inter SemiBold"/>
                <a:cs typeface="Inter SemiBold"/>
              </a:rPr>
              <a:t>Original, as written:</a:t>
            </a:r>
          </a:p>
        </p:txBody>
      </p:sp>
      <p:sp>
        <p:nvSpPr>
          <p:cNvPr id="10" name="msg_pt"/>
          <p:cNvSpPr txBox="1"/>
          <p:nvPr/>
        </p:nvSpPr>
        <p:spPr>
          <a:xfrm>
            <a:off x="914400" y="4991100"/>
            <a:ext cx="5105400" cy="825500"/>
          </a:xfrm>
          <a:prstGeom prst="rect">
            <a:avLst/>
          </a:prstGeom>
          <a:noFill/>
        </p:spPr>
        <p:txBody>
          <a:bodyPr wrap="none" lIns="0" tIns="0" rIns="0" bIns="0" anchor="t">
            <a:noAutofit/>
          </a:bodyPr>
          <a:lstStyle/>
          <a:p>
            <a:pPr algn="l">
              <a:lnSpc>
                <a:spcPct val="109091"/>
              </a:lnSpc>
              <a:spcBef>
                <a:spcPts val="0"/>
              </a:spcBef>
            </a:pPr>
            <a:r>
              <a:rPr lang="en-US" sz="1450" spc="0" dirty="0">
                <a:solidFill>
                  <a:srgbClr val="F5F7FA">
                    <a:alpha val="95000"/>
                  </a:srgbClr>
                </a:solidFill>
                <a:latin typeface="Inter"/>
                <a:cs typeface="Inter"/>
              </a:rPr>
              <a:t>“socorro!! estamos no segundo andar na rua voluntários</a:t>
            </a:r>
            <a:br>
              <a:rPr lang="en-US" sz="1450" spc="0" dirty="0">
                <a:solidFill>
                  <a:srgbClr val="F5F7FA">
                    <a:alpha val="95000"/>
                  </a:srgbClr>
                </a:solidFill>
                <a:latin typeface="Inter"/>
                <a:cs typeface="Inter"/>
              </a:rPr>
            </a:br>
            <a:r>
              <a:rPr lang="en-US" sz="1450" spc="0" dirty="0">
                <a:solidFill>
                  <a:srgbClr val="F5F7FA">
                    <a:alpha val="95000"/>
                  </a:srgbClr>
                </a:solidFill>
                <a:latin typeface="Inter"/>
                <a:cs typeface="Inter"/>
              </a:rPr>
              <a:t>da pátria 1067, porto alegre, eu, minha mãe acamada</a:t>
            </a:r>
            <a:br>
              <a:rPr lang="en-US" sz="1450" spc="0" dirty="0">
                <a:solidFill>
                  <a:srgbClr val="F5F7FA">
                    <a:alpha val="95000"/>
                  </a:srgbClr>
                </a:solidFill>
                <a:latin typeface="Inter"/>
                <a:cs typeface="Inter"/>
              </a:rPr>
            </a:br>
            <a:r>
              <a:rPr lang="en-US" sz="1450" spc="0" dirty="0">
                <a:solidFill>
                  <a:srgbClr val="F5F7FA">
                    <a:alpha val="95000"/>
                  </a:srgbClr>
                </a:solidFill>
                <a:latin typeface="Inter"/>
                <a:cs typeface="Inter"/>
              </a:rPr>
              <a:t>e meu filho de 8 anos, a água não para de subir”</a:t>
            </a:r>
          </a:p>
        </p:txBody>
      </p:sp>
      <p:sp>
        <p:nvSpPr>
          <p:cNvPr id="11" name="arrow"/>
          <p:cNvSpPr/>
          <p:nvPr/>
        </p:nvSpPr>
        <p:spPr>
          <a:xfrm>
            <a:off x="6502400" y="3746500"/>
            <a:ext cx="254000" cy="6350"/>
          </a:xfrm>
          <a:custGeom>
            <a:avLst/>
            <a:gdLst/>
            <a:ahLst/>
            <a:cxnLst/>
            <a:rect l="0" t="0" r="r" b="b"/>
            <a:pathLst>
              <a:path w="254000" h="6350" fill="none">
                <a:moveTo>
                  <a:pt x="0" y="0"/>
                </a:moveTo>
                <a:lnTo>
                  <a:pt x="254000" y="0"/>
                </a:lnTo>
              </a:path>
            </a:pathLst>
          </a:custGeom>
          <a:noFill/>
          <a:ln w="63500" cap="rnd">
            <a:solidFill>
              <a:srgbClr val="FFB224"/>
            </a:solidFill>
            <a:round/>
            <a:tailEnd type="triangle" w="med" len="med"/>
          </a:ln>
        </p:spPr>
      </p:sp>
      <p:sp>
        <p:nvSpPr>
          <p:cNvPr id="12" name="card"/>
          <p:cNvSpPr/>
          <p:nvPr/>
        </p:nvSpPr>
        <p:spPr>
          <a:xfrm>
            <a:off x="6985000" y="1460500"/>
            <a:ext cx="4597400" cy="4572000"/>
          </a:xfrm>
          <a:prstGeom prst="roundRect">
            <a:avLst>
              <a:gd name="adj" fmla="val 3333"/>
            </a:avLst>
          </a:prstGeom>
          <a:solidFill>
            <a:srgbClr val="FFFFFF">
              <a:alpha val="6000"/>
            </a:srgbClr>
          </a:solidFill>
          <a:ln w="12700">
            <a:solidFill>
              <a:srgbClr val="F5F7FA">
                <a:alpha val="25000"/>
              </a:srgbClr>
            </a:solidFill>
          </a:ln>
        </p:spPr>
      </p:sp>
      <p:sp>
        <p:nvSpPr>
          <p:cNvPr id="13" name="card_edge"/>
          <p:cNvSpPr/>
          <p:nvPr/>
        </p:nvSpPr>
        <p:spPr>
          <a:xfrm>
            <a:off x="7137400" y="1714500"/>
            <a:ext cx="50800" cy="4064000"/>
          </a:xfrm>
          <a:prstGeom prst="roundRect">
            <a:avLst>
              <a:gd name="adj" fmla="val 50000"/>
            </a:avLst>
          </a:prstGeom>
          <a:solidFill>
            <a:srgbClr val="FFB224"/>
          </a:solidFill>
          <a:ln>
            <a:noFill/>
          </a:ln>
        </p:spPr>
      </p:sp>
      <p:sp>
        <p:nvSpPr>
          <p:cNvPr id="14" name="card_k"/>
          <p:cNvSpPr txBox="1"/>
          <p:nvPr/>
        </p:nvSpPr>
        <p:spPr>
          <a:xfrm>
            <a:off x="7340600" y="1714500"/>
            <a:ext cx="4025900" cy="254000"/>
          </a:xfrm>
          <a:prstGeom prst="rect">
            <a:avLst/>
          </a:prstGeom>
          <a:noFill/>
        </p:spPr>
        <p:txBody>
          <a:bodyPr wrap="none" lIns="0" tIns="0" rIns="0" bIns="0" anchor="t">
            <a:noAutofit/>
          </a:bodyPr>
          <a:lstStyle/>
          <a:p>
            <a:pPr algn="l">
              <a:lnSpc>
                <a:spcPct val="95041"/>
              </a:lnSpc>
              <a:spcBef>
                <a:spcPts val="0"/>
              </a:spcBef>
            </a:pPr>
            <a:r>
              <a:rPr lang="en-US" sz="1400" spc="0" dirty="0">
                <a:solidFill>
                  <a:srgbClr val="F5F7FA">
                    <a:alpha val="75000"/>
                  </a:srgbClr>
                </a:solidFill>
                <a:latin typeface="Inter SemiBold"/>
                <a:cs typeface="Inter SemiBold"/>
              </a:rPr>
              <a:t>Case card · produced live by the agents</a:t>
            </a:r>
          </a:p>
        </p:txBody>
      </p:sp>
      <p:sp>
        <p:nvSpPr>
          <p:cNvPr id="15" name="card_p1"/>
          <p:cNvSpPr txBox="1"/>
          <p:nvPr/>
        </p:nvSpPr>
        <p:spPr>
          <a:xfrm>
            <a:off x="7340600" y="2044700"/>
            <a:ext cx="4025900" cy="787400"/>
          </a:xfrm>
          <a:prstGeom prst="rect">
            <a:avLst/>
          </a:prstGeom>
          <a:noFill/>
        </p:spPr>
        <p:txBody>
          <a:bodyPr wrap="none" lIns="0" tIns="0" rIns="0" bIns="0" anchor="t">
            <a:noAutofit/>
          </a:bodyPr>
          <a:lstStyle/>
          <a:p>
            <a:pPr algn="l">
              <a:lnSpc>
                <a:spcPct val="95041"/>
              </a:lnSpc>
              <a:spcBef>
                <a:spcPts val="0"/>
              </a:spcBef>
            </a:pPr>
            <a:r>
              <a:rPr lang="en-US" sz="4800" b="1" spc="-58" dirty="0">
                <a:solidFill>
                  <a:srgbClr val="FFB224"/>
                </a:solidFill>
                <a:latin typeface="Inter Display"/>
                <a:cs typeface="Inter Display"/>
              </a:rPr>
              <a:t>P1</a:t>
            </a:r>
            <a:r>
              <a:rPr lang="en-US" sz="1800" spc="-18" dirty="0">
                <a:solidFill>
                  <a:srgbClr val="F5F7FA"/>
                </a:solidFill>
                <a:latin typeface="Inter SemiBold"/>
                <a:cs typeface="Inter SemiBold"/>
              </a:rPr>
              <a:t>   medical · top priority</a:t>
            </a:r>
          </a:p>
        </p:txBody>
      </p:sp>
      <p:sp>
        <p:nvSpPr>
          <p:cNvPr id="16" name="card_addr"/>
          <p:cNvSpPr txBox="1"/>
          <p:nvPr/>
        </p:nvSpPr>
        <p:spPr>
          <a:xfrm>
            <a:off x="7340600" y="2921000"/>
            <a:ext cx="4025900" cy="6985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a:cs typeface="Inter"/>
              </a:rPr>
              <a:t>Voluntários da Pátria 1067</a:t>
            </a:r>
          </a:p>
          <a:p>
            <a:pPr algn="l">
              <a:lnSpc>
                <a:spcPct val="95041"/>
              </a:lnSpc>
              <a:spcBef>
                <a:spcPts val="600"/>
              </a:spcBef>
            </a:pPr>
            <a:r>
              <a:rPr lang="en-US" sz="1600" spc="0" dirty="0">
                <a:solidFill>
                  <a:srgbClr val="2BD47D"/>
                </a:solidFill>
                <a:latin typeface="Inter SemiBold"/>
                <a:cs typeface="Inter SemiBold"/>
              </a:rPr>
              <a:t>✓ address verified in Zetaris</a:t>
            </a:r>
          </a:p>
        </p:txBody>
      </p:sp>
      <p:sp>
        <p:nvSpPr>
          <p:cNvPr id="17" name="card_people"/>
          <p:cNvSpPr txBox="1"/>
          <p:nvPr/>
        </p:nvSpPr>
        <p:spPr>
          <a:xfrm>
            <a:off x="7340600" y="3873500"/>
            <a:ext cx="4025900" cy="6985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a:cs typeface="Inter"/>
              </a:rPr>
              <a:t>3 people</a:t>
            </a:r>
          </a:p>
          <a:p>
            <a:pPr algn="l">
              <a:lnSpc>
                <a:spcPct val="95041"/>
              </a:lnSpc>
              <a:spcBef>
                <a:spcPts val="600"/>
              </a:spcBef>
            </a:pPr>
            <a:r>
              <a:rPr lang="en-US" sz="1600" spc="0" dirty="0">
                <a:solidFill>
                  <a:srgbClr val="F5F7FA">
                    <a:alpha val="95000"/>
                  </a:srgbClr>
                </a:solidFill>
                <a:latin typeface="Inter"/>
                <a:cs typeface="Inter"/>
              </a:rPr>
              <a:t>me · bedridden mother · son, 8</a:t>
            </a:r>
          </a:p>
        </p:txBody>
      </p:sp>
      <p:sp>
        <p:nvSpPr>
          <p:cNvPr id="18" name="card_water"/>
          <p:cNvSpPr txBox="1"/>
          <p:nvPr/>
        </p:nvSpPr>
        <p:spPr>
          <a:xfrm>
            <a:off x="7340600" y="4826000"/>
            <a:ext cx="4025900" cy="6985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a:cs typeface="Inter"/>
              </a:rPr>
              <a:t>Water ≥ 1.2 m</a:t>
            </a:r>
          </a:p>
          <a:p>
            <a:pPr algn="l">
              <a:lnSpc>
                <a:spcPct val="95041"/>
              </a:lnSpc>
              <a:spcBef>
                <a:spcPts val="600"/>
              </a:spcBef>
            </a:pPr>
            <a:r>
              <a:rPr lang="en-US" sz="1600" spc="0" dirty="0">
                <a:solidFill>
                  <a:srgbClr val="FFB224"/>
                </a:solidFill>
                <a:latin typeface="Inter SemiBold"/>
                <a:cs typeface="Inter SemiBold"/>
              </a:rPr>
              <a:t>→ ready to dispatch, pending a human</a:t>
            </a:r>
          </a:p>
        </p:txBody>
      </p:sp>
      <p:sp>
        <p:nvSpPr>
          <p:cNvPr id="19"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Live capture, English UI (values redrawn for legibility) · the message is a synthetic replay case written for the demo</a:t>
            </a:r>
          </a:p>
        </p:txBody>
      </p:sp>
      <p:sp>
        <p:nvSpPr>
          <p:cNvPr id="20"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9690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Agents check each other’s work, live.</a:t>
            </a:r>
          </a:p>
        </p:txBody>
      </p:sp>
      <p:sp>
        <p:nvSpPr>
          <p:cNvPr id="5" name="n_msg"/>
          <p:cNvSpPr/>
          <p:nvPr/>
        </p:nvSpPr>
        <p:spPr>
          <a:xfrm>
            <a:off x="609600" y="1498600"/>
            <a:ext cx="1524000" cy="1587500"/>
          </a:xfrm>
          <a:prstGeom prst="roundRect">
            <a:avLst>
              <a:gd name="adj" fmla="val 6667"/>
            </a:avLst>
          </a:prstGeom>
          <a:solidFill>
            <a:srgbClr val="FFFFFF">
              <a:alpha val="6000"/>
            </a:srgbClr>
          </a:solidFill>
          <a:ln w="12700">
            <a:solidFill>
              <a:srgbClr val="F5F7FA">
                <a:alpha val="35000"/>
              </a:srgbClr>
            </a:solidFill>
          </a:ln>
        </p:spPr>
      </p:sp>
      <p:sp>
        <p:nvSpPr>
          <p:cNvPr id="6" name="n_msg_t"/>
          <p:cNvSpPr txBox="1"/>
          <p:nvPr/>
        </p:nvSpPr>
        <p:spPr>
          <a:xfrm>
            <a:off x="609600" y="1822450"/>
            <a:ext cx="1524000" cy="349250"/>
          </a:xfrm>
          <a:prstGeom prst="rect">
            <a:avLst/>
          </a:prstGeom>
          <a:noFill/>
        </p:spPr>
        <p:txBody>
          <a:bodyPr wrap="none" lIns="0" tIns="0" rIns="0" bIns="0" anchor="t">
            <a:noAutofit/>
          </a:bodyPr>
          <a:lstStyle/>
          <a:p>
            <a:pPr algn="ctr">
              <a:lnSpc>
                <a:spcPct val="95041"/>
              </a:lnSpc>
              <a:spcBef>
                <a:spcPts val="0"/>
              </a:spcBef>
            </a:pPr>
            <a:r>
              <a:rPr lang="en-US" sz="2200" b="1" spc="-22" dirty="0">
                <a:solidFill>
                  <a:srgbClr val="F5F7FA"/>
                </a:solidFill>
                <a:latin typeface="Inter Display"/>
                <a:cs typeface="Inter Display"/>
              </a:rPr>
              <a:t>Message</a:t>
            </a:r>
          </a:p>
        </p:txBody>
      </p:sp>
      <p:sp>
        <p:nvSpPr>
          <p:cNvPr id="7" name="n_msg_s"/>
          <p:cNvSpPr txBox="1"/>
          <p:nvPr/>
        </p:nvSpPr>
        <p:spPr>
          <a:xfrm>
            <a:off x="609600" y="2247900"/>
            <a:ext cx="1524000" cy="546100"/>
          </a:xfrm>
          <a:prstGeom prst="rect">
            <a:avLst/>
          </a:prstGeom>
          <a:noFill/>
        </p:spPr>
        <p:txBody>
          <a:bodyPr wrap="none" lIns="0" tIns="0" rIns="0" bIns="0" anchor="t">
            <a:noAutofit/>
          </a:bodyPr>
          <a:lstStyle/>
          <a:p>
            <a:pPr algn="ctr">
              <a:lnSpc>
                <a:spcPct val="100826"/>
              </a:lnSpc>
              <a:spcBef>
                <a:spcPts val="0"/>
              </a:spcBef>
            </a:pPr>
            <a:r>
              <a:rPr lang="en-US" sz="1600" spc="0" dirty="0">
                <a:solidFill>
                  <a:srgbClr val="F5F7FA">
                    <a:alpha val="95000"/>
                  </a:srgbClr>
                </a:solidFill>
                <a:latin typeface="Inter Medium"/>
                <a:cs typeface="Inter Medium"/>
              </a:rPr>
              <a:t>WhatsApp,</a:t>
            </a:r>
            <a:br>
              <a:rPr lang="en-US" sz="1600" spc="0" dirty="0">
                <a:solidFill>
                  <a:srgbClr val="F5F7FA">
                    <a:alpha val="95000"/>
                  </a:srgbClr>
                </a:solidFill>
                <a:latin typeface="Inter Medium"/>
                <a:cs typeface="Inter Medium"/>
              </a:rPr>
            </a:br>
            <a:r>
              <a:rPr lang="en-US" sz="1600" spc="0" dirty="0">
                <a:solidFill>
                  <a:srgbClr val="F5F7FA">
                    <a:alpha val="95000"/>
                  </a:srgbClr>
                </a:solidFill>
                <a:latin typeface="Inter Medium"/>
                <a:cs typeface="Inter Medium"/>
              </a:rPr>
              <a:t>call, post</a:t>
            </a:r>
          </a:p>
        </p:txBody>
      </p:sp>
      <p:sp>
        <p:nvSpPr>
          <p:cNvPr id="8" name="a_msg"/>
          <p:cNvSpPr/>
          <p:nvPr/>
        </p:nvSpPr>
        <p:spPr>
          <a:xfrm>
            <a:off x="2171700" y="2292350"/>
            <a:ext cx="317500" cy="6350"/>
          </a:xfrm>
          <a:custGeom>
            <a:avLst/>
            <a:gdLst/>
            <a:ahLst/>
            <a:cxnLst/>
            <a:rect l="0" t="0" r="r" b="b"/>
            <a:pathLst>
              <a:path w="317500" h="6350" fill="none">
                <a:moveTo>
                  <a:pt x="0" y="0"/>
                </a:moveTo>
                <a:lnTo>
                  <a:pt x="317500" y="0"/>
                </a:lnTo>
              </a:path>
            </a:pathLst>
          </a:custGeom>
          <a:noFill/>
          <a:ln w="38100" cap="rnd">
            <a:solidFill>
              <a:srgbClr val="F5F7FA">
                <a:alpha val="90000"/>
              </a:srgbClr>
            </a:solidFill>
            <a:round/>
            <a:tailEnd type="triangle" w="med" len="med"/>
          </a:ln>
        </p:spPr>
      </p:sp>
      <p:sp>
        <p:nvSpPr>
          <p:cNvPr id="9" name="n_intake"/>
          <p:cNvSpPr/>
          <p:nvPr/>
        </p:nvSpPr>
        <p:spPr>
          <a:xfrm>
            <a:off x="2540000" y="1498600"/>
            <a:ext cx="1524000" cy="1587500"/>
          </a:xfrm>
          <a:prstGeom prst="roundRect">
            <a:avLst>
              <a:gd name="adj" fmla="val 6667"/>
            </a:avLst>
          </a:prstGeom>
          <a:solidFill>
            <a:srgbClr val="FFFFFF">
              <a:alpha val="6000"/>
            </a:srgbClr>
          </a:solidFill>
          <a:ln w="12700">
            <a:solidFill>
              <a:srgbClr val="F5F7FA">
                <a:alpha val="35000"/>
              </a:srgbClr>
            </a:solidFill>
          </a:ln>
        </p:spPr>
      </p:sp>
      <p:sp>
        <p:nvSpPr>
          <p:cNvPr id="10" name="n_intake_t"/>
          <p:cNvSpPr txBox="1"/>
          <p:nvPr/>
        </p:nvSpPr>
        <p:spPr>
          <a:xfrm>
            <a:off x="2540000" y="1822450"/>
            <a:ext cx="1524000" cy="349250"/>
          </a:xfrm>
          <a:prstGeom prst="rect">
            <a:avLst/>
          </a:prstGeom>
          <a:noFill/>
        </p:spPr>
        <p:txBody>
          <a:bodyPr wrap="none" lIns="0" tIns="0" rIns="0" bIns="0" anchor="t">
            <a:noAutofit/>
          </a:bodyPr>
          <a:lstStyle/>
          <a:p>
            <a:pPr algn="ctr">
              <a:lnSpc>
                <a:spcPct val="95041"/>
              </a:lnSpc>
              <a:spcBef>
                <a:spcPts val="0"/>
              </a:spcBef>
            </a:pPr>
            <a:r>
              <a:rPr lang="en-US" sz="2200" b="1" spc="-22" dirty="0">
                <a:solidFill>
                  <a:srgbClr val="F5F7FA"/>
                </a:solidFill>
                <a:latin typeface="Inter Display"/>
                <a:cs typeface="Inter Display"/>
              </a:rPr>
              <a:t>Intake</a:t>
            </a:r>
          </a:p>
        </p:txBody>
      </p:sp>
      <p:sp>
        <p:nvSpPr>
          <p:cNvPr id="11" name="n_intake_s"/>
          <p:cNvSpPr txBox="1"/>
          <p:nvPr/>
        </p:nvSpPr>
        <p:spPr>
          <a:xfrm>
            <a:off x="2540000" y="2247900"/>
            <a:ext cx="1524000" cy="546100"/>
          </a:xfrm>
          <a:prstGeom prst="rect">
            <a:avLst/>
          </a:prstGeom>
          <a:noFill/>
        </p:spPr>
        <p:txBody>
          <a:bodyPr wrap="none" lIns="0" tIns="0" rIns="0" bIns="0" anchor="t">
            <a:noAutofit/>
          </a:bodyPr>
          <a:lstStyle/>
          <a:p>
            <a:pPr algn="ctr">
              <a:lnSpc>
                <a:spcPct val="100826"/>
              </a:lnSpc>
              <a:spcBef>
                <a:spcPts val="0"/>
              </a:spcBef>
            </a:pPr>
            <a:r>
              <a:rPr lang="en-US" sz="1600" spc="0" dirty="0">
                <a:solidFill>
                  <a:srgbClr val="F5F7FA">
                    <a:alpha val="95000"/>
                  </a:srgbClr>
                </a:solidFill>
                <a:latin typeface="Inter Medium"/>
                <a:cs typeface="Inter Medium"/>
              </a:rPr>
              <a:t>reads people,</a:t>
            </a:r>
            <a:br>
              <a:rPr lang="en-US" sz="1600" spc="0" dirty="0">
                <a:solidFill>
                  <a:srgbClr val="F5F7FA">
                    <a:alpha val="95000"/>
                  </a:srgbClr>
                </a:solidFill>
                <a:latin typeface="Inter Medium"/>
                <a:cs typeface="Inter Medium"/>
              </a:rPr>
            </a:br>
            <a:r>
              <a:rPr lang="en-US" sz="1600" spc="0" dirty="0">
                <a:solidFill>
                  <a:srgbClr val="F5F7FA">
                    <a:alpha val="95000"/>
                  </a:srgbClr>
                </a:solidFill>
                <a:latin typeface="Inter Medium"/>
                <a:cs typeface="Inter Medium"/>
              </a:rPr>
              <a:t>needs, risk</a:t>
            </a:r>
          </a:p>
        </p:txBody>
      </p:sp>
      <p:sp>
        <p:nvSpPr>
          <p:cNvPr id="12" name="a_intake"/>
          <p:cNvSpPr/>
          <p:nvPr/>
        </p:nvSpPr>
        <p:spPr>
          <a:xfrm>
            <a:off x="4102100" y="2292350"/>
            <a:ext cx="317500" cy="6350"/>
          </a:xfrm>
          <a:custGeom>
            <a:avLst/>
            <a:gdLst/>
            <a:ahLst/>
            <a:cxnLst/>
            <a:rect l="0" t="0" r="r" b="b"/>
            <a:pathLst>
              <a:path w="317500" h="6350" fill="none">
                <a:moveTo>
                  <a:pt x="0" y="0"/>
                </a:moveTo>
                <a:lnTo>
                  <a:pt x="317500" y="0"/>
                </a:lnTo>
              </a:path>
            </a:pathLst>
          </a:custGeom>
          <a:noFill/>
          <a:ln w="38100" cap="rnd">
            <a:solidFill>
              <a:srgbClr val="F5F7FA">
                <a:alpha val="90000"/>
              </a:srgbClr>
            </a:solidFill>
            <a:round/>
            <a:tailEnd type="triangle" w="med" len="med"/>
          </a:ln>
        </p:spPr>
      </p:sp>
      <p:sp>
        <p:nvSpPr>
          <p:cNvPr id="13" name="n_loc"/>
          <p:cNvSpPr/>
          <p:nvPr/>
        </p:nvSpPr>
        <p:spPr>
          <a:xfrm>
            <a:off x="4470400" y="1498600"/>
            <a:ext cx="1651000" cy="1587500"/>
          </a:xfrm>
          <a:prstGeom prst="roundRect">
            <a:avLst>
              <a:gd name="adj" fmla="val 6400"/>
            </a:avLst>
          </a:prstGeom>
          <a:solidFill>
            <a:srgbClr val="FFFFFF">
              <a:alpha val="6000"/>
            </a:srgbClr>
          </a:solidFill>
          <a:ln w="12700">
            <a:solidFill>
              <a:srgbClr val="F5F7FA">
                <a:alpha val="35000"/>
              </a:srgbClr>
            </a:solidFill>
          </a:ln>
        </p:spPr>
      </p:sp>
      <p:sp>
        <p:nvSpPr>
          <p:cNvPr id="14" name="n_loc_t"/>
          <p:cNvSpPr txBox="1"/>
          <p:nvPr/>
        </p:nvSpPr>
        <p:spPr>
          <a:xfrm>
            <a:off x="4470400" y="1822450"/>
            <a:ext cx="1651000" cy="349250"/>
          </a:xfrm>
          <a:prstGeom prst="rect">
            <a:avLst/>
          </a:prstGeom>
          <a:noFill/>
        </p:spPr>
        <p:txBody>
          <a:bodyPr wrap="none" lIns="0" tIns="0" rIns="0" bIns="0" anchor="t">
            <a:noAutofit/>
          </a:bodyPr>
          <a:lstStyle/>
          <a:p>
            <a:pPr algn="ctr">
              <a:lnSpc>
                <a:spcPct val="95041"/>
              </a:lnSpc>
              <a:spcBef>
                <a:spcPts val="0"/>
              </a:spcBef>
            </a:pPr>
            <a:r>
              <a:rPr lang="en-US" sz="2200" b="1" spc="-22" dirty="0">
                <a:solidFill>
                  <a:srgbClr val="F5F7FA"/>
                </a:solidFill>
                <a:latin typeface="Inter Display"/>
                <a:cs typeface="Inter Display"/>
              </a:rPr>
              <a:t>Location</a:t>
            </a:r>
          </a:p>
        </p:txBody>
      </p:sp>
      <p:sp>
        <p:nvSpPr>
          <p:cNvPr id="15" name="n_loc_s"/>
          <p:cNvSpPr txBox="1"/>
          <p:nvPr/>
        </p:nvSpPr>
        <p:spPr>
          <a:xfrm>
            <a:off x="4470400" y="2247900"/>
            <a:ext cx="1651000" cy="546100"/>
          </a:xfrm>
          <a:prstGeom prst="rect">
            <a:avLst/>
          </a:prstGeom>
          <a:noFill/>
        </p:spPr>
        <p:txBody>
          <a:bodyPr wrap="none" lIns="0" tIns="0" rIns="0" bIns="0" anchor="t">
            <a:noAutofit/>
          </a:bodyPr>
          <a:lstStyle/>
          <a:p>
            <a:pPr algn="ctr">
              <a:lnSpc>
                <a:spcPct val="100826"/>
              </a:lnSpc>
              <a:spcBef>
                <a:spcPts val="0"/>
              </a:spcBef>
            </a:pPr>
            <a:r>
              <a:rPr lang="en-US" sz="1600" spc="0" dirty="0">
                <a:solidFill>
                  <a:srgbClr val="F5F7FA">
                    <a:alpha val="95000"/>
                  </a:srgbClr>
                </a:solidFill>
                <a:latin typeface="Inter Medium"/>
                <a:cs typeface="Inter Medium"/>
              </a:rPr>
              <a:t>finds the street</a:t>
            </a:r>
            <a:br>
              <a:rPr lang="en-US" sz="1600" spc="0" dirty="0">
                <a:solidFill>
                  <a:srgbClr val="F5F7FA">
                    <a:alpha val="95000"/>
                  </a:srgbClr>
                </a:solidFill>
                <a:latin typeface="Inter Medium"/>
                <a:cs typeface="Inter Medium"/>
              </a:rPr>
            </a:br>
            <a:r>
              <a:rPr lang="en-US" sz="1600" spc="0" dirty="0">
                <a:solidFill>
                  <a:srgbClr val="F5F7FA">
                    <a:alpha val="95000"/>
                  </a:srgbClr>
                </a:solidFill>
                <a:latin typeface="Inter Medium"/>
                <a:cs typeface="Inter Medium"/>
              </a:rPr>
              <a:t>via Zetaris</a:t>
            </a:r>
          </a:p>
        </p:txBody>
      </p:sp>
      <p:sp>
        <p:nvSpPr>
          <p:cNvPr id="16" name="a_loc"/>
          <p:cNvSpPr/>
          <p:nvPr/>
        </p:nvSpPr>
        <p:spPr>
          <a:xfrm>
            <a:off x="6159500" y="2292350"/>
            <a:ext cx="317500" cy="6350"/>
          </a:xfrm>
          <a:custGeom>
            <a:avLst/>
            <a:gdLst/>
            <a:ahLst/>
            <a:cxnLst/>
            <a:rect l="0" t="0" r="r" b="b"/>
            <a:pathLst>
              <a:path w="317500" h="6350" fill="none">
                <a:moveTo>
                  <a:pt x="0" y="0"/>
                </a:moveTo>
                <a:lnTo>
                  <a:pt x="317500" y="0"/>
                </a:lnTo>
              </a:path>
            </a:pathLst>
          </a:custGeom>
          <a:noFill/>
          <a:ln w="38100" cap="rnd">
            <a:solidFill>
              <a:srgbClr val="F5F7FA">
                <a:alpha val="90000"/>
              </a:srgbClr>
            </a:solidFill>
            <a:round/>
            <a:tailEnd type="triangle" w="med" len="med"/>
          </a:ln>
        </p:spPr>
      </p:sp>
      <p:sp>
        <p:nvSpPr>
          <p:cNvPr id="17" name="n_check"/>
          <p:cNvSpPr/>
          <p:nvPr/>
        </p:nvSpPr>
        <p:spPr>
          <a:xfrm>
            <a:off x="6527800" y="1498600"/>
            <a:ext cx="2997200" cy="1587500"/>
          </a:xfrm>
          <a:prstGeom prst="roundRect">
            <a:avLst>
              <a:gd name="adj" fmla="val 6400"/>
            </a:avLst>
          </a:prstGeom>
          <a:solidFill>
            <a:srgbClr val="2BD47D">
              <a:alpha val="8000"/>
            </a:srgbClr>
          </a:solidFill>
          <a:ln w="19050">
            <a:solidFill>
              <a:srgbClr val="2BD47D">
                <a:alpha val="85000"/>
              </a:srgbClr>
            </a:solidFill>
          </a:ln>
        </p:spPr>
      </p:sp>
      <p:sp>
        <p:nvSpPr>
          <p:cNvPr id="18" name="n_check_t"/>
          <p:cNvSpPr txBox="1"/>
          <p:nvPr/>
        </p:nvSpPr>
        <p:spPr>
          <a:xfrm>
            <a:off x="6527800" y="1663700"/>
            <a:ext cx="2997200" cy="317500"/>
          </a:xfrm>
          <a:prstGeom prst="rect">
            <a:avLst/>
          </a:prstGeom>
          <a:noFill/>
        </p:spPr>
        <p:txBody>
          <a:bodyPr wrap="none" lIns="0" tIns="0" rIns="0" bIns="0" anchor="t">
            <a:noAutofit/>
          </a:bodyPr>
          <a:lstStyle/>
          <a:p>
            <a:pPr algn="ctr">
              <a:lnSpc>
                <a:spcPct val="95041"/>
              </a:lnSpc>
              <a:spcBef>
                <a:spcPts val="0"/>
              </a:spcBef>
            </a:pPr>
            <a:r>
              <a:rPr lang="en-US" sz="1900" b="1" spc="-19" dirty="0">
                <a:solidFill>
                  <a:srgbClr val="2BD47D"/>
                </a:solidFill>
                <a:latin typeface="Inter Display"/>
                <a:cs typeface="Inter Display"/>
              </a:rPr>
              <a:t>Checker agents</a:t>
            </a:r>
          </a:p>
        </p:txBody>
      </p:sp>
      <p:sp>
        <p:nvSpPr>
          <p:cNvPr id="19" name="chk_Critic"/>
          <p:cNvSpPr/>
          <p:nvPr/>
        </p:nvSpPr>
        <p:spPr>
          <a:xfrm>
            <a:off x="6692900" y="2120900"/>
            <a:ext cx="1282700" cy="368300"/>
          </a:xfrm>
          <a:prstGeom prst="roundRect">
            <a:avLst>
              <a:gd name="adj" fmla="val 50000"/>
            </a:avLst>
          </a:prstGeom>
          <a:solidFill>
            <a:srgbClr val="FFFFFF">
              <a:alpha val="16000"/>
            </a:srgbClr>
          </a:solidFill>
          <a:ln w="12700">
            <a:solidFill>
              <a:srgbClr val="2BD47D">
                <a:alpha val="90000"/>
              </a:srgbClr>
            </a:solidFill>
          </a:ln>
        </p:spPr>
      </p:sp>
      <p:sp>
        <p:nvSpPr>
          <p:cNvPr id="20" name="chk_Critic_t"/>
          <p:cNvSpPr txBox="1"/>
          <p:nvPr/>
        </p:nvSpPr>
        <p:spPr>
          <a:xfrm>
            <a:off x="6692900" y="2184400"/>
            <a:ext cx="1282700" cy="24765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F5F7FA"/>
                </a:solidFill>
                <a:latin typeface="Inter SemiBold"/>
                <a:cs typeface="Inter SemiBold"/>
              </a:rPr>
              <a:t>Critic</a:t>
            </a:r>
          </a:p>
        </p:txBody>
      </p:sp>
      <p:sp>
        <p:nvSpPr>
          <p:cNvPr id="21" name="chk_Credibility"/>
          <p:cNvSpPr/>
          <p:nvPr/>
        </p:nvSpPr>
        <p:spPr>
          <a:xfrm>
            <a:off x="8077200" y="2120900"/>
            <a:ext cx="1282700" cy="368300"/>
          </a:xfrm>
          <a:prstGeom prst="roundRect">
            <a:avLst>
              <a:gd name="adj" fmla="val 50000"/>
            </a:avLst>
          </a:prstGeom>
          <a:solidFill>
            <a:srgbClr val="FFFFFF">
              <a:alpha val="16000"/>
            </a:srgbClr>
          </a:solidFill>
          <a:ln w="12700">
            <a:solidFill>
              <a:srgbClr val="2BD47D">
                <a:alpha val="90000"/>
              </a:srgbClr>
            </a:solidFill>
          </a:ln>
        </p:spPr>
      </p:sp>
      <p:sp>
        <p:nvSpPr>
          <p:cNvPr id="22" name="chk_Credibility_t"/>
          <p:cNvSpPr txBox="1"/>
          <p:nvPr/>
        </p:nvSpPr>
        <p:spPr>
          <a:xfrm>
            <a:off x="8077200" y="2184400"/>
            <a:ext cx="1282700" cy="24765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F5F7FA"/>
                </a:solidFill>
                <a:latin typeface="Inter SemiBold"/>
                <a:cs typeface="Inter SemiBold"/>
              </a:rPr>
              <a:t>Credibility</a:t>
            </a:r>
          </a:p>
        </p:txBody>
      </p:sp>
      <p:sp>
        <p:nvSpPr>
          <p:cNvPr id="23" name="chk_Hazard"/>
          <p:cNvSpPr/>
          <p:nvPr/>
        </p:nvSpPr>
        <p:spPr>
          <a:xfrm>
            <a:off x="6692900" y="2578100"/>
            <a:ext cx="1282700" cy="368300"/>
          </a:xfrm>
          <a:prstGeom prst="roundRect">
            <a:avLst>
              <a:gd name="adj" fmla="val 50000"/>
            </a:avLst>
          </a:prstGeom>
          <a:solidFill>
            <a:srgbClr val="FFFFFF">
              <a:alpha val="16000"/>
            </a:srgbClr>
          </a:solidFill>
          <a:ln w="12700">
            <a:solidFill>
              <a:srgbClr val="2BD47D">
                <a:alpha val="90000"/>
              </a:srgbClr>
            </a:solidFill>
          </a:ln>
        </p:spPr>
      </p:sp>
      <p:sp>
        <p:nvSpPr>
          <p:cNvPr id="24" name="chk_Hazard_t"/>
          <p:cNvSpPr txBox="1"/>
          <p:nvPr/>
        </p:nvSpPr>
        <p:spPr>
          <a:xfrm>
            <a:off x="6692900" y="2641600"/>
            <a:ext cx="1282700" cy="24765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F5F7FA"/>
                </a:solidFill>
                <a:latin typeface="Inter SemiBold"/>
                <a:cs typeface="Inter SemiBold"/>
              </a:rPr>
              <a:t>Hazard</a:t>
            </a:r>
          </a:p>
        </p:txBody>
      </p:sp>
      <p:sp>
        <p:nvSpPr>
          <p:cNvPr id="25" name="chk_Duplicates"/>
          <p:cNvSpPr/>
          <p:nvPr/>
        </p:nvSpPr>
        <p:spPr>
          <a:xfrm>
            <a:off x="8077200" y="2578100"/>
            <a:ext cx="1282700" cy="368300"/>
          </a:xfrm>
          <a:prstGeom prst="roundRect">
            <a:avLst>
              <a:gd name="adj" fmla="val 50000"/>
            </a:avLst>
          </a:prstGeom>
          <a:solidFill>
            <a:srgbClr val="FFFFFF">
              <a:alpha val="16000"/>
            </a:srgbClr>
          </a:solidFill>
          <a:ln w="12700">
            <a:solidFill>
              <a:srgbClr val="2BD47D">
                <a:alpha val="90000"/>
              </a:srgbClr>
            </a:solidFill>
          </a:ln>
        </p:spPr>
      </p:sp>
      <p:sp>
        <p:nvSpPr>
          <p:cNvPr id="26" name="chk_Duplicates_t"/>
          <p:cNvSpPr txBox="1"/>
          <p:nvPr/>
        </p:nvSpPr>
        <p:spPr>
          <a:xfrm>
            <a:off x="8077200" y="2641600"/>
            <a:ext cx="1282700" cy="24765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F5F7FA"/>
                </a:solidFill>
                <a:latin typeface="Inter SemiBold"/>
                <a:cs typeface="Inter SemiBold"/>
              </a:rPr>
              <a:t>Duplicates</a:t>
            </a:r>
          </a:p>
        </p:txBody>
      </p:sp>
      <p:sp>
        <p:nvSpPr>
          <p:cNvPr id="27" name="a_check"/>
          <p:cNvSpPr/>
          <p:nvPr/>
        </p:nvSpPr>
        <p:spPr>
          <a:xfrm>
            <a:off x="9563100" y="2292350"/>
            <a:ext cx="317500" cy="6350"/>
          </a:xfrm>
          <a:custGeom>
            <a:avLst/>
            <a:gdLst/>
            <a:ahLst/>
            <a:cxnLst/>
            <a:rect l="0" t="0" r="r" b="b"/>
            <a:pathLst>
              <a:path w="317500" h="6350" fill="none">
                <a:moveTo>
                  <a:pt x="0" y="0"/>
                </a:moveTo>
                <a:lnTo>
                  <a:pt x="317500" y="0"/>
                </a:lnTo>
              </a:path>
            </a:pathLst>
          </a:custGeom>
          <a:noFill/>
          <a:ln w="38100" cap="rnd">
            <a:solidFill>
              <a:srgbClr val="F5F7FA">
                <a:alpha val="90000"/>
              </a:srgbClr>
            </a:solidFill>
            <a:round/>
            <a:tailEnd type="triangle" w="med" len="med"/>
          </a:ln>
        </p:spPr>
      </p:sp>
      <p:sp>
        <p:nvSpPr>
          <p:cNvPr id="28" name="n_human"/>
          <p:cNvSpPr/>
          <p:nvPr/>
        </p:nvSpPr>
        <p:spPr>
          <a:xfrm>
            <a:off x="9931400" y="1498600"/>
            <a:ext cx="1651000" cy="1587500"/>
          </a:xfrm>
          <a:prstGeom prst="roundRect">
            <a:avLst>
              <a:gd name="adj" fmla="val 6400"/>
            </a:avLst>
          </a:prstGeom>
          <a:solidFill>
            <a:srgbClr val="FFB224">
              <a:alpha val="10000"/>
            </a:srgbClr>
          </a:solidFill>
          <a:ln w="19050">
            <a:solidFill>
              <a:srgbClr val="FFB224">
                <a:alpha val="90000"/>
              </a:srgbClr>
            </a:solidFill>
          </a:ln>
        </p:spPr>
      </p:sp>
      <p:sp>
        <p:nvSpPr>
          <p:cNvPr id="29" name="n_human_t"/>
          <p:cNvSpPr txBox="1"/>
          <p:nvPr/>
        </p:nvSpPr>
        <p:spPr>
          <a:xfrm>
            <a:off x="9931400" y="1841500"/>
            <a:ext cx="1651000" cy="349250"/>
          </a:xfrm>
          <a:prstGeom prst="rect">
            <a:avLst/>
          </a:prstGeom>
          <a:noFill/>
        </p:spPr>
        <p:txBody>
          <a:bodyPr wrap="none" lIns="0" tIns="0" rIns="0" bIns="0" anchor="t">
            <a:noAutofit/>
          </a:bodyPr>
          <a:lstStyle/>
          <a:p>
            <a:pPr algn="ctr">
              <a:lnSpc>
                <a:spcPct val="95041"/>
              </a:lnSpc>
              <a:spcBef>
                <a:spcPts val="0"/>
              </a:spcBef>
            </a:pPr>
            <a:r>
              <a:rPr lang="en-US" sz="2200" b="1" spc="-22" dirty="0">
                <a:solidFill>
                  <a:srgbClr val="FFB224"/>
                </a:solidFill>
                <a:latin typeface="Inter Display"/>
                <a:cs typeface="Inter Display"/>
              </a:rPr>
              <a:t>Human</a:t>
            </a:r>
          </a:p>
        </p:txBody>
      </p:sp>
      <p:sp>
        <p:nvSpPr>
          <p:cNvPr id="30" name="n_human_s"/>
          <p:cNvSpPr txBox="1"/>
          <p:nvPr/>
        </p:nvSpPr>
        <p:spPr>
          <a:xfrm>
            <a:off x="9931400" y="2266950"/>
            <a:ext cx="1651000" cy="514350"/>
          </a:xfrm>
          <a:prstGeom prst="rect">
            <a:avLst/>
          </a:prstGeom>
          <a:noFill/>
        </p:spPr>
        <p:txBody>
          <a:bodyPr wrap="none" lIns="0" tIns="0" rIns="0" bIns="0" anchor="t">
            <a:noAutofit/>
          </a:bodyPr>
          <a:lstStyle/>
          <a:p>
            <a:pPr algn="ctr">
              <a:lnSpc>
                <a:spcPct val="100826"/>
              </a:lnSpc>
              <a:spcBef>
                <a:spcPts val="0"/>
              </a:spcBef>
            </a:pPr>
            <a:r>
              <a:rPr lang="en-US" sz="1500" spc="0" dirty="0">
                <a:solidFill>
                  <a:srgbClr val="F5F7FA">
                    <a:alpha val="95000"/>
                  </a:srgbClr>
                </a:solidFill>
                <a:latin typeface="Inter Medium"/>
                <a:cs typeface="Inter Medium"/>
              </a:rPr>
              <a:t>dispatcher</a:t>
            </a:r>
            <a:br>
              <a:rPr lang="en-US" sz="1500" spc="0" dirty="0">
                <a:solidFill>
                  <a:srgbClr val="F5F7FA">
                    <a:alpha val="95000"/>
                  </a:srgbClr>
                </a:solidFill>
                <a:latin typeface="Inter Medium"/>
                <a:cs typeface="Inter Medium"/>
              </a:rPr>
            </a:br>
            <a:r>
              <a:rPr lang="en-US" sz="1500" spc="0" dirty="0">
                <a:solidFill>
                  <a:srgbClr val="F5F7FA">
                    <a:alpha val="95000"/>
                  </a:srgbClr>
                </a:solidFill>
                <a:latin typeface="Inter Medium"/>
                <a:cs typeface="Inter Medium"/>
              </a:rPr>
              <a:t>approves</a:t>
            </a:r>
          </a:p>
        </p:txBody>
      </p:sp>
      <p:sp>
        <p:nvSpPr>
          <p:cNvPr id="31" name="loop6"/>
          <p:cNvSpPr/>
          <p:nvPr/>
        </p:nvSpPr>
        <p:spPr>
          <a:xfrm>
            <a:off x="3302000" y="3098800"/>
            <a:ext cx="4724400" cy="381000"/>
          </a:xfrm>
          <a:custGeom>
            <a:avLst/>
            <a:gdLst/>
            <a:ahLst/>
            <a:cxnLst/>
            <a:rect l="0" t="0" r="r" b="b"/>
            <a:pathLst>
              <a:path w="4724400" h="381000" fill="none">
                <a:moveTo>
                  <a:pt x="4724400" y="0"/>
                </a:moveTo>
                <a:lnTo>
                  <a:pt x="4724400" y="381000"/>
                </a:lnTo>
                <a:lnTo>
                  <a:pt x="0" y="381000"/>
                </a:lnTo>
                <a:lnTo>
                  <a:pt x="0" y="38100"/>
                </a:lnTo>
              </a:path>
            </a:pathLst>
          </a:custGeom>
          <a:noFill/>
          <a:ln w="50800" cap="rnd">
            <a:solidFill>
              <a:srgbClr val="3BA3FF"/>
            </a:solidFill>
            <a:round/>
            <a:tailEnd type="triangle" w="med" len="med"/>
          </a:ln>
        </p:spPr>
      </p:sp>
      <p:sp>
        <p:nvSpPr>
          <p:cNvPr id="32" name="loop6_t"/>
          <p:cNvSpPr txBox="1"/>
          <p:nvPr/>
        </p:nvSpPr>
        <p:spPr>
          <a:xfrm>
            <a:off x="3302000" y="3644900"/>
            <a:ext cx="4724400" cy="254000"/>
          </a:xfrm>
          <a:prstGeom prst="rect">
            <a:avLst/>
          </a:prstGeom>
          <a:noFill/>
        </p:spPr>
        <p:txBody>
          <a:bodyPr wrap="none" lIns="0" tIns="0" rIns="0" bIns="0" anchor="t">
            <a:noAutofit/>
          </a:bodyPr>
          <a:lstStyle/>
          <a:p>
            <a:pPr algn="ctr">
              <a:lnSpc>
                <a:spcPct val="95041"/>
              </a:lnSpc>
              <a:spcBef>
                <a:spcPts val="0"/>
              </a:spcBef>
            </a:pPr>
            <a:r>
              <a:rPr lang="en-US" sz="1600" b="1" spc="0" dirty="0">
                <a:solidFill>
                  <a:srgbClr val="3BA3FF"/>
                </a:solidFill>
                <a:latin typeface="Inter"/>
                <a:cs typeface="Inter"/>
              </a:rPr>
              <a:t>An objection sends it back: Intake re-reads</a:t>
            </a:r>
          </a:p>
        </p:txBody>
      </p:sp>
      <p:sp>
        <p:nvSpPr>
          <p:cNvPr id="33" name="rc"/>
          <p:cNvSpPr/>
          <p:nvPr/>
        </p:nvSpPr>
        <p:spPr>
          <a:xfrm>
            <a:off x="609600" y="4191000"/>
            <a:ext cx="6350000" cy="1905000"/>
          </a:xfrm>
          <a:prstGeom prst="roundRect">
            <a:avLst>
              <a:gd name="adj" fmla="val 6667"/>
            </a:avLst>
          </a:prstGeom>
          <a:solidFill>
            <a:srgbClr val="FFFFFF">
              <a:alpha val="5000"/>
            </a:srgbClr>
          </a:solidFill>
          <a:ln w="6350">
            <a:solidFill>
              <a:srgbClr val="F5F7FA">
                <a:alpha val="20000"/>
              </a:srgbClr>
            </a:solidFill>
          </a:ln>
        </p:spPr>
      </p:sp>
      <p:sp>
        <p:nvSpPr>
          <p:cNvPr id="34" name="rc_t"/>
          <p:cNvSpPr txBox="1"/>
          <p:nvPr/>
        </p:nvSpPr>
        <p:spPr>
          <a:xfrm>
            <a:off x="914400" y="4406900"/>
            <a:ext cx="5842000" cy="355600"/>
          </a:xfrm>
          <a:prstGeom prst="rect">
            <a:avLst/>
          </a:prstGeom>
          <a:noFill/>
        </p:spPr>
        <p:txBody>
          <a:bodyPr wrap="none" lIns="0" tIns="0" rIns="0" bIns="0" anchor="t">
            <a:noAutofit/>
          </a:bodyPr>
          <a:lstStyle/>
          <a:p>
            <a:pPr algn="l">
              <a:lnSpc>
                <a:spcPct val="95041"/>
              </a:lnSpc>
              <a:spcBef>
                <a:spcPts val="0"/>
              </a:spcBef>
            </a:pPr>
            <a:r>
              <a:rPr lang="en-US" sz="1900" b="1" spc="-19" dirty="0">
                <a:solidFill>
                  <a:srgbClr val="F5F7FA"/>
                </a:solidFill>
                <a:latin typeface="Inter Display"/>
                <a:cs typeface="Inter Display"/>
              </a:rPr>
              <a:t>Every model call carries a Nemotron receipt.</a:t>
            </a:r>
          </a:p>
        </p:txBody>
      </p:sp>
      <p:sp>
        <p:nvSpPr>
          <p:cNvPr id="35" name="rc_chip"/>
          <p:cNvSpPr/>
          <p:nvPr/>
        </p:nvSpPr>
        <p:spPr>
          <a:xfrm>
            <a:off x="914400" y="4953000"/>
            <a:ext cx="5740400" cy="889000"/>
          </a:xfrm>
          <a:prstGeom prst="roundRect">
            <a:avLst>
              <a:gd name="adj" fmla="val 10000"/>
            </a:avLst>
          </a:prstGeom>
          <a:solidFill>
            <a:srgbClr val="2BD47D">
              <a:alpha val="10000"/>
            </a:srgbClr>
          </a:solidFill>
          <a:ln w="12700">
            <a:solidFill>
              <a:srgbClr val="2BD47D">
                <a:alpha val="80000"/>
              </a:srgbClr>
            </a:solidFill>
          </a:ln>
        </p:spPr>
      </p:sp>
      <p:sp>
        <p:nvSpPr>
          <p:cNvPr id="36" name="rc_k"/>
          <p:cNvSpPr txBox="1"/>
          <p:nvPr/>
        </p:nvSpPr>
        <p:spPr>
          <a:xfrm>
            <a:off x="1143000" y="5092700"/>
            <a:ext cx="1270000" cy="6985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2BD47D"/>
                </a:solidFill>
                <a:latin typeface="Inter"/>
                <a:cs typeface="Inter"/>
              </a:rPr>
              <a:t>MODEL</a:t>
            </a:r>
          </a:p>
          <a:p>
            <a:pPr algn="l">
              <a:lnSpc>
                <a:spcPct val="95041"/>
              </a:lnSpc>
              <a:spcBef>
                <a:spcPts val="1500"/>
              </a:spcBef>
            </a:pPr>
            <a:r>
              <a:rPr lang="en-US" sz="1400" b="1" spc="0" dirty="0">
                <a:solidFill>
                  <a:srgbClr val="2BD47D"/>
                </a:solidFill>
                <a:latin typeface="Inter"/>
                <a:cs typeface="Inter"/>
              </a:rPr>
              <a:t>RECEIPT</a:t>
            </a:r>
          </a:p>
        </p:txBody>
      </p:sp>
      <p:sp>
        <p:nvSpPr>
          <p:cNvPr id="37" name="rc_v"/>
          <p:cNvSpPr txBox="1"/>
          <p:nvPr/>
        </p:nvSpPr>
        <p:spPr>
          <a:xfrm>
            <a:off x="2260600" y="5080000"/>
            <a:ext cx="4318000" cy="6985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solidFill>
                <a:latin typeface="Consolas"/>
                <a:cs typeface="Consolas"/>
              </a:rPr>
              <a:t>nvidia/nemotron-3.5-super-vl-120b-a12b</a:t>
            </a:r>
          </a:p>
          <a:p>
            <a:pPr algn="l">
              <a:lnSpc>
                <a:spcPct val="95041"/>
              </a:lnSpc>
              <a:spcBef>
                <a:spcPts val="1050"/>
              </a:spcBef>
            </a:pPr>
            <a:r>
              <a:rPr lang="en-US" sz="1600" spc="0" dirty="0">
                <a:solidFill>
                  <a:srgbClr val="F5F7FA"/>
                </a:solidFill>
                <a:latin typeface="Consolas"/>
                <a:cs typeface="Consolas"/>
              </a:rPr>
              <a:t>rcpt_req_7ngfp01b · Intake · 5.3 s</a:t>
            </a:r>
          </a:p>
        </p:txBody>
      </p:sp>
      <p:sp>
        <p:nvSpPr>
          <p:cNvPr id="38" name="ev"/>
          <p:cNvSpPr/>
          <p:nvPr/>
        </p:nvSpPr>
        <p:spPr>
          <a:xfrm>
            <a:off x="7264400" y="4191000"/>
            <a:ext cx="4318000" cy="1905000"/>
          </a:xfrm>
          <a:prstGeom prst="roundRect">
            <a:avLst>
              <a:gd name="adj" fmla="val 6667"/>
            </a:avLst>
          </a:prstGeom>
          <a:solidFill>
            <a:srgbClr val="FFFFFF">
              <a:alpha val="5000"/>
            </a:srgbClr>
          </a:solidFill>
          <a:ln w="6350">
            <a:solidFill>
              <a:srgbClr val="F5F7FA">
                <a:alpha val="20000"/>
              </a:srgbClr>
            </a:solidFill>
          </a:ln>
        </p:spPr>
      </p:sp>
      <p:sp>
        <p:nvSpPr>
          <p:cNvPr id="39" name="ev_t"/>
          <p:cNvSpPr txBox="1"/>
          <p:nvPr/>
        </p:nvSpPr>
        <p:spPr>
          <a:xfrm>
            <a:off x="7543800" y="4406900"/>
            <a:ext cx="3810000" cy="355600"/>
          </a:xfrm>
          <a:prstGeom prst="rect">
            <a:avLst/>
          </a:prstGeom>
          <a:noFill/>
        </p:spPr>
        <p:txBody>
          <a:bodyPr wrap="none" lIns="0" tIns="0" rIns="0" bIns="0" anchor="t">
            <a:noAutofit/>
          </a:bodyPr>
          <a:lstStyle/>
          <a:p>
            <a:pPr algn="l">
              <a:lnSpc>
                <a:spcPct val="95041"/>
              </a:lnSpc>
              <a:spcBef>
                <a:spcPts val="0"/>
              </a:spcBef>
            </a:pPr>
            <a:r>
              <a:rPr lang="en-US" sz="1900" b="1" spc="-19" dirty="0">
                <a:solidFill>
                  <a:srgbClr val="F5F7FA"/>
                </a:solidFill>
                <a:latin typeface="Inter Display"/>
                <a:cs typeface="Inter Display"/>
              </a:rPr>
              <a:t>Each agent quotes its evidence.</a:t>
            </a:r>
          </a:p>
        </p:txBody>
      </p:sp>
      <p:sp>
        <p:nvSpPr>
          <p:cNvPr id="40" name="ev_q"/>
          <p:cNvSpPr txBox="1"/>
          <p:nvPr/>
        </p:nvSpPr>
        <p:spPr>
          <a:xfrm>
            <a:off x="7543800" y="4978400"/>
            <a:ext cx="3810000" cy="444500"/>
          </a:xfrm>
          <a:prstGeom prst="rect">
            <a:avLst/>
          </a:prstGeom>
          <a:noFill/>
        </p:spPr>
        <p:txBody>
          <a:bodyPr wrap="none" lIns="0" tIns="0" rIns="0" bIns="0" anchor="t">
            <a:noAutofit/>
          </a:bodyPr>
          <a:lstStyle/>
          <a:p>
            <a:pPr algn="l">
              <a:lnSpc>
                <a:spcPct val="95041"/>
              </a:lnSpc>
              <a:spcBef>
                <a:spcPts val="0"/>
              </a:spcBef>
            </a:pPr>
            <a:r>
              <a:rPr lang="en-US" sz="2600" b="1" spc="-31" dirty="0">
                <a:solidFill>
                  <a:srgbClr val="F5F7FA"/>
                </a:solidFill>
                <a:latin typeface="Inter"/>
                <a:cs typeface="Inter"/>
              </a:rPr>
              <a:t>“minha mãe acamada”</a:t>
            </a:r>
          </a:p>
        </p:txBody>
      </p:sp>
      <p:sp>
        <p:nvSpPr>
          <p:cNvPr id="41" name="ev_a"/>
          <p:cNvSpPr txBox="1"/>
          <p:nvPr/>
        </p:nvSpPr>
        <p:spPr>
          <a:xfrm>
            <a:off x="7543800" y="5537200"/>
            <a:ext cx="3810000" cy="355600"/>
          </a:xfrm>
          <a:prstGeom prst="rect">
            <a:avLst/>
          </a:prstGeom>
          <a:noFill/>
        </p:spPr>
        <p:txBody>
          <a:bodyPr wrap="none" lIns="0" tIns="0" rIns="0" bIns="0" anchor="t">
            <a:noAutofit/>
          </a:bodyPr>
          <a:lstStyle/>
          <a:p>
            <a:pPr algn="l">
              <a:lnSpc>
                <a:spcPct val="95041"/>
              </a:lnSpc>
              <a:spcBef>
                <a:spcPts val="0"/>
              </a:spcBef>
            </a:pPr>
            <a:r>
              <a:rPr lang="en-US" sz="1800" spc="-18" dirty="0">
                <a:solidFill>
                  <a:srgbClr val="2BD47D"/>
                </a:solidFill>
                <a:latin typeface="Inter SemiBold"/>
                <a:cs typeface="Inter SemiBold"/>
              </a:rPr>
              <a:t>✓ my mother is bedridden → medical</a:t>
            </a:r>
          </a:p>
        </p:txBody>
      </p:sp>
      <p:sp>
        <p:nvSpPr>
          <p:cNvPr id="42"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Live run (Oct 2026) on the 6 May 2024 replay · values from the Intake agent’s record · checkers run when a case needs them</a:t>
            </a:r>
          </a:p>
        </p:txBody>
      </p:sp>
      <p:sp>
        <p:nvSpPr>
          <p:cNvPr id="43"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39750"/>
          </a:xfrm>
          <a:prstGeom prst="rect">
            <a:avLst/>
          </a:prstGeom>
          <a:noFill/>
        </p:spPr>
        <p:txBody>
          <a:bodyPr wrap="none" lIns="0" tIns="0" rIns="0" bIns="0" anchor="t">
            <a:noAutofit/>
          </a:bodyPr>
          <a:lstStyle/>
          <a:p>
            <a:pPr algn="l">
              <a:lnSpc>
                <a:spcPct val="87603"/>
              </a:lnSpc>
              <a:spcBef>
                <a:spcPts val="0"/>
              </a:spcBef>
            </a:pPr>
            <a:r>
              <a:rPr lang="en-US" sz="3400" b="1" spc="-41" dirty="0">
                <a:solidFill>
                  <a:srgbClr val="F5F7FA"/>
                </a:solidFill>
                <a:latin typeface="Inter Display"/>
                <a:cs typeface="Inter Display"/>
              </a:rPr>
              <a:t>The agents plan the rescue. A person approves it.</a:t>
            </a:r>
          </a:p>
        </p:txBody>
      </p:sp>
      <p:pic>
        <p:nvPicPr>
          <p:cNvPr id="5" name="route_hero"/>
          <p:cNvPicPr>
            <a:picLocks noChangeAspect="1"/>
          </p:cNvPicPr>
          <p:nvPr/>
        </p:nvPicPr>
        <p:blipFill>
          <a:blip r:embed="rId2"/>
          <a:srcRect l="0" t="0" r="0" b="10029"/>
          <a:stretch>
            <a:fillRect/>
          </a:stretch>
        </p:blipFill>
        <p:spPr>
          <a:xfrm>
            <a:off x="609600" y="1270000"/>
            <a:ext cx="7302500" cy="4927600"/>
          </a:xfrm>
          <a:prstGeom prst="roundRect">
            <a:avLst>
              <a:gd name="adj" fmla="val 1546"/>
            </a:avLst>
          </a:prstGeom>
          <a:ln w="12700">
            <a:solidFill>
              <a:srgbClr val="FFFFFF">
                <a:alpha val="15000"/>
              </a:srgbClr>
            </a:solidFill>
          </a:ln>
          <a:effectLst>
            <a:outerShdw blurRad="571500" dist="228600" dir="5400000" algn="t" rotWithShape="0">
              <a:srgbClr val="000000">
                <a:alpha val="55000"/>
              </a:srgbClr>
            </a:outerShdw>
          </a:effectLst>
        </p:spPr>
      </p:pic>
      <p:sp>
        <p:nvSpPr>
          <p:cNvPr id="6" name="c_launch"/>
          <p:cNvSpPr/>
          <p:nvPr/>
        </p:nvSpPr>
        <p:spPr>
          <a:xfrm>
            <a:off x="3594100" y="3778250"/>
            <a:ext cx="1397000" cy="304800"/>
          </a:xfrm>
          <a:prstGeom prst="roundRect">
            <a:avLst>
              <a:gd name="adj" fmla="val 50000"/>
            </a:avLst>
          </a:prstGeom>
          <a:solidFill>
            <a:srgbClr val="0B0F14">
              <a:alpha val="95000"/>
            </a:srgbClr>
          </a:solidFill>
          <a:ln w="12700">
            <a:solidFill>
              <a:srgbClr val="FFB224">
                <a:alpha val="90000"/>
              </a:srgbClr>
            </a:solidFill>
          </a:ln>
        </p:spPr>
      </p:sp>
      <p:sp>
        <p:nvSpPr>
          <p:cNvPr id="7" name="c_launch_t"/>
          <p:cNvSpPr txBox="1"/>
          <p:nvPr/>
        </p:nvSpPr>
        <p:spPr>
          <a:xfrm>
            <a:off x="3594100" y="3816350"/>
            <a:ext cx="1397000" cy="228600"/>
          </a:xfrm>
          <a:prstGeom prst="rect">
            <a:avLst/>
          </a:prstGeom>
          <a:noFill/>
        </p:spPr>
        <p:txBody>
          <a:bodyPr wrap="none" lIns="0" tIns="0" rIns="0" bIns="0" anchor="t">
            <a:noAutofit/>
          </a:bodyPr>
          <a:lstStyle/>
          <a:p>
            <a:pPr algn="ctr">
              <a:lnSpc>
                <a:spcPct val="95041"/>
              </a:lnSpc>
              <a:spcBef>
                <a:spcPts val="0"/>
              </a:spcBef>
            </a:pPr>
            <a:r>
              <a:rPr lang="en-US" sz="1400" spc="0" dirty="0">
                <a:solidFill>
                  <a:srgbClr val="F5F7FA"/>
                </a:solidFill>
                <a:latin typeface="Inter SemiBold"/>
                <a:cs typeface="Inter SemiBold"/>
              </a:rPr>
              <a:t>Launch point</a:t>
            </a:r>
          </a:p>
        </p:txBody>
      </p:sp>
      <p:sp>
        <p:nvSpPr>
          <p:cNvPr id="8" name="c_home"/>
          <p:cNvSpPr/>
          <p:nvPr/>
        </p:nvSpPr>
        <p:spPr>
          <a:xfrm>
            <a:off x="2006600" y="1320800"/>
            <a:ext cx="1270000" cy="304800"/>
          </a:xfrm>
          <a:prstGeom prst="roundRect">
            <a:avLst>
              <a:gd name="adj" fmla="val 50000"/>
            </a:avLst>
          </a:prstGeom>
          <a:solidFill>
            <a:srgbClr val="0B0F14">
              <a:alpha val="95000"/>
            </a:srgbClr>
          </a:solidFill>
          <a:ln w="12700">
            <a:solidFill>
              <a:srgbClr val="FF4D4F">
                <a:alpha val="90000"/>
              </a:srgbClr>
            </a:solidFill>
          </a:ln>
        </p:spPr>
      </p:sp>
      <p:sp>
        <p:nvSpPr>
          <p:cNvPr id="9" name="c_home_t"/>
          <p:cNvSpPr txBox="1"/>
          <p:nvPr/>
        </p:nvSpPr>
        <p:spPr>
          <a:xfrm>
            <a:off x="2006600" y="1358900"/>
            <a:ext cx="1270000" cy="228600"/>
          </a:xfrm>
          <a:prstGeom prst="rect">
            <a:avLst/>
          </a:prstGeom>
          <a:noFill/>
        </p:spPr>
        <p:txBody>
          <a:bodyPr wrap="none" lIns="0" tIns="0" rIns="0" bIns="0" anchor="t">
            <a:noAutofit/>
          </a:bodyPr>
          <a:lstStyle/>
          <a:p>
            <a:pPr algn="ctr">
              <a:lnSpc>
                <a:spcPct val="95041"/>
              </a:lnSpc>
              <a:spcBef>
                <a:spcPts val="0"/>
              </a:spcBef>
            </a:pPr>
            <a:r>
              <a:rPr lang="en-US" sz="1400" spc="0" dirty="0">
                <a:solidFill>
                  <a:srgbClr val="F5F7FA"/>
                </a:solidFill>
                <a:latin typeface="Inter SemiBold"/>
                <a:cs typeface="Inter SemiBold"/>
              </a:rPr>
              <a:t>Her house</a:t>
            </a:r>
          </a:p>
        </p:txBody>
      </p:sp>
      <p:sp>
        <p:nvSpPr>
          <p:cNvPr id="10" name="c_boat"/>
          <p:cNvSpPr/>
          <p:nvPr/>
        </p:nvSpPr>
        <p:spPr>
          <a:xfrm>
            <a:off x="2514600" y="2578100"/>
            <a:ext cx="1809750" cy="304800"/>
          </a:xfrm>
          <a:prstGeom prst="roundRect">
            <a:avLst>
              <a:gd name="adj" fmla="val 50000"/>
            </a:avLst>
          </a:prstGeom>
          <a:solidFill>
            <a:srgbClr val="0B0F14">
              <a:alpha val="95000"/>
            </a:srgbClr>
          </a:solidFill>
          <a:ln w="12700">
            <a:solidFill>
              <a:srgbClr val="3BA3FF">
                <a:alpha val="90000"/>
              </a:srgbClr>
            </a:solidFill>
          </a:ln>
        </p:spPr>
      </p:sp>
      <p:sp>
        <p:nvSpPr>
          <p:cNvPr id="11" name="c_boat_t"/>
          <p:cNvSpPr txBox="1"/>
          <p:nvPr/>
        </p:nvSpPr>
        <p:spPr>
          <a:xfrm>
            <a:off x="2514600" y="2616200"/>
            <a:ext cx="1809750" cy="228600"/>
          </a:xfrm>
          <a:prstGeom prst="rect">
            <a:avLst/>
          </a:prstGeom>
          <a:noFill/>
        </p:spPr>
        <p:txBody>
          <a:bodyPr wrap="none" lIns="0" tIns="0" rIns="0" bIns="0" anchor="t">
            <a:noAutofit/>
          </a:bodyPr>
          <a:lstStyle/>
          <a:p>
            <a:pPr algn="ctr">
              <a:lnSpc>
                <a:spcPct val="95041"/>
              </a:lnSpc>
              <a:spcBef>
                <a:spcPts val="0"/>
              </a:spcBef>
            </a:pPr>
            <a:r>
              <a:rPr lang="en-US" sz="1400" spc="0" dirty="0">
                <a:solidFill>
                  <a:srgbClr val="F5F7FA"/>
                </a:solidFill>
                <a:latin typeface="Inter SemiBold"/>
                <a:cs typeface="Inter SemiBold"/>
              </a:rPr>
              <a:t>By boat · estimated</a:t>
            </a:r>
          </a:p>
        </p:txBody>
      </p:sp>
      <p:sp>
        <p:nvSpPr>
          <p:cNvPr id="12" name="c_road"/>
          <p:cNvSpPr/>
          <p:nvPr/>
        </p:nvSpPr>
        <p:spPr>
          <a:xfrm>
            <a:off x="4483100" y="5346700"/>
            <a:ext cx="1079500" cy="304800"/>
          </a:xfrm>
          <a:prstGeom prst="roundRect">
            <a:avLst>
              <a:gd name="adj" fmla="val 50000"/>
            </a:avLst>
          </a:prstGeom>
          <a:solidFill>
            <a:srgbClr val="0B0F14">
              <a:alpha val="95000"/>
            </a:srgbClr>
          </a:solidFill>
          <a:ln w="12700">
            <a:solidFill>
              <a:srgbClr val="2BD47D">
                <a:alpha val="90000"/>
              </a:srgbClr>
            </a:solidFill>
          </a:ln>
        </p:spPr>
      </p:sp>
      <p:sp>
        <p:nvSpPr>
          <p:cNvPr id="13" name="c_road_t"/>
          <p:cNvSpPr txBox="1"/>
          <p:nvPr/>
        </p:nvSpPr>
        <p:spPr>
          <a:xfrm>
            <a:off x="4483100" y="5384800"/>
            <a:ext cx="1079500" cy="228600"/>
          </a:xfrm>
          <a:prstGeom prst="rect">
            <a:avLst/>
          </a:prstGeom>
          <a:noFill/>
        </p:spPr>
        <p:txBody>
          <a:bodyPr wrap="none" lIns="0" tIns="0" rIns="0" bIns="0" anchor="t">
            <a:noAutofit/>
          </a:bodyPr>
          <a:lstStyle/>
          <a:p>
            <a:pPr algn="ctr">
              <a:lnSpc>
                <a:spcPct val="95041"/>
              </a:lnSpc>
              <a:spcBef>
                <a:spcPts val="0"/>
              </a:spcBef>
            </a:pPr>
            <a:r>
              <a:rPr lang="en-US" sz="1400" spc="0" dirty="0">
                <a:solidFill>
                  <a:srgbClr val="F5F7FA"/>
                </a:solidFill>
                <a:latin typeface="Inter SemiBold"/>
                <a:cs typeface="Inter SemiBold"/>
              </a:rPr>
              <a:t>By road</a:t>
            </a:r>
          </a:p>
        </p:txBody>
      </p:sp>
      <p:sp>
        <p:nvSpPr>
          <p:cNvPr id="14" name="c_dist"/>
          <p:cNvSpPr/>
          <p:nvPr/>
        </p:nvSpPr>
        <p:spPr>
          <a:xfrm>
            <a:off x="762000" y="5740400"/>
            <a:ext cx="1905000" cy="330200"/>
          </a:xfrm>
          <a:prstGeom prst="roundRect">
            <a:avLst>
              <a:gd name="adj" fmla="val 50000"/>
            </a:avLst>
          </a:prstGeom>
          <a:solidFill>
            <a:srgbClr val="0B0F14">
              <a:alpha val="95000"/>
            </a:srgbClr>
          </a:solidFill>
          <a:ln>
            <a:noFill/>
          </a:ln>
        </p:spPr>
      </p:sp>
      <p:sp>
        <p:nvSpPr>
          <p:cNvPr id="15" name="c_dist_t"/>
          <p:cNvSpPr txBox="1"/>
          <p:nvPr/>
        </p:nvSpPr>
        <p:spPr>
          <a:xfrm>
            <a:off x="762000" y="5784850"/>
            <a:ext cx="1905000" cy="24765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F5F7FA"/>
                </a:solidFill>
                <a:latin typeface="Inter SemiBold"/>
                <a:cs typeface="Inter SemiBold"/>
              </a:rPr>
              <a:t>8.9 km · 24 min</a:t>
            </a:r>
          </a:p>
        </p:txBody>
      </p:sp>
      <p:sp>
        <p:nvSpPr>
          <p:cNvPr id="16" name="r1"/>
          <p:cNvSpPr txBox="1"/>
          <p:nvPr/>
        </p:nvSpPr>
        <p:spPr>
          <a:xfrm>
            <a:off x="8216900" y="1270000"/>
            <a:ext cx="3365500" cy="2540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5F7FA"/>
                </a:solidFill>
                <a:latin typeface="Inter"/>
                <a:cs typeface="Inter"/>
              </a:rPr>
              <a:t>1  The fleet agent picks the boat</a:t>
            </a:r>
          </a:p>
        </p:txBody>
      </p:sp>
      <p:sp>
        <p:nvSpPr>
          <p:cNvPr id="17" name="boat"/>
          <p:cNvSpPr/>
          <p:nvPr/>
        </p:nvSpPr>
        <p:spPr>
          <a:xfrm>
            <a:off x="8216900" y="1600200"/>
            <a:ext cx="3365500" cy="952500"/>
          </a:xfrm>
          <a:prstGeom prst="roundRect">
            <a:avLst>
              <a:gd name="adj" fmla="val 12000"/>
            </a:avLst>
          </a:prstGeom>
          <a:solidFill>
            <a:srgbClr val="FFFFFF">
              <a:alpha val="6000"/>
            </a:srgbClr>
          </a:solidFill>
          <a:ln w="12700">
            <a:solidFill>
              <a:srgbClr val="F5F7FA">
                <a:alpha val="30000"/>
              </a:srgbClr>
            </a:solidFill>
          </a:ln>
        </p:spPr>
      </p:sp>
      <p:sp>
        <p:nvSpPr>
          <p:cNvPr id="18" name="boat_t"/>
          <p:cNvSpPr txBox="1"/>
          <p:nvPr/>
        </p:nvSpPr>
        <p:spPr>
          <a:xfrm>
            <a:off x="8420100" y="1727200"/>
            <a:ext cx="2959100" cy="3175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Display"/>
                <a:cs typeface="Inter Display"/>
              </a:rPr>
              <a:t>Aluminium boat</a:t>
            </a:r>
          </a:p>
        </p:txBody>
      </p:sp>
      <p:sp>
        <p:nvSpPr>
          <p:cNvPr id="19" name="boat_s"/>
          <p:cNvSpPr txBox="1"/>
          <p:nvPr/>
        </p:nvSpPr>
        <p:spPr>
          <a:xfrm>
            <a:off x="8420100" y="2108200"/>
            <a:ext cx="2959100" cy="3175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90000"/>
                  </a:srgbClr>
                </a:solidFill>
                <a:latin typeface="Inter Medium"/>
                <a:cs typeface="Inter Medium"/>
              </a:rPr>
              <a:t>24 min · 6 seats · 1 trip</a:t>
            </a:r>
          </a:p>
        </p:txBody>
      </p:sp>
      <p:sp>
        <p:nvSpPr>
          <p:cNvPr id="20" name="r2"/>
          <p:cNvSpPr txBox="1"/>
          <p:nvPr/>
        </p:nvSpPr>
        <p:spPr>
          <a:xfrm>
            <a:off x="8216900" y="2806700"/>
            <a:ext cx="3365500" cy="2540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5F7FA"/>
                </a:solidFill>
                <a:latin typeface="Inter"/>
                <a:cs typeface="Inter"/>
              </a:rPr>
              <a:t>2  A person ticks the checks</a:t>
            </a:r>
          </a:p>
        </p:txBody>
      </p:sp>
      <p:sp>
        <p:nvSpPr>
          <p:cNvPr id="21" name="chk"/>
          <p:cNvSpPr/>
          <p:nvPr/>
        </p:nvSpPr>
        <p:spPr>
          <a:xfrm>
            <a:off x="8216900" y="3136900"/>
            <a:ext cx="3365500" cy="825500"/>
          </a:xfrm>
          <a:prstGeom prst="roundRect">
            <a:avLst>
              <a:gd name="adj" fmla="val 13846"/>
            </a:avLst>
          </a:prstGeom>
          <a:solidFill>
            <a:srgbClr val="2BD47D">
              <a:alpha val="12000"/>
            </a:srgbClr>
          </a:solidFill>
          <a:ln w="19050">
            <a:solidFill>
              <a:srgbClr val="2BD47D">
                <a:alpha val="90000"/>
              </a:srgbClr>
            </a:solidFill>
          </a:ln>
        </p:spPr>
      </p:sp>
      <p:sp>
        <p:nvSpPr>
          <p:cNvPr id="22" name="chk_t"/>
          <p:cNvSpPr txBox="1"/>
          <p:nvPr/>
        </p:nvSpPr>
        <p:spPr>
          <a:xfrm>
            <a:off x="8216900" y="3327400"/>
            <a:ext cx="3365500" cy="444500"/>
          </a:xfrm>
          <a:prstGeom prst="rect">
            <a:avLst/>
          </a:prstGeom>
          <a:noFill/>
        </p:spPr>
        <p:txBody>
          <a:bodyPr wrap="none" lIns="0" tIns="0" rIns="0" bIns="0" anchor="t">
            <a:noAutofit/>
          </a:bodyPr>
          <a:lstStyle/>
          <a:p>
            <a:pPr algn="ctr">
              <a:lnSpc>
                <a:spcPct val="95041"/>
              </a:lnSpc>
              <a:spcBef>
                <a:spcPts val="0"/>
              </a:spcBef>
            </a:pPr>
            <a:r>
              <a:rPr lang="en-US" sz="2600" b="1" spc="-31" dirty="0">
                <a:solidFill>
                  <a:srgbClr val="2BD47D"/>
                </a:solidFill>
                <a:latin typeface="Inter Display"/>
                <a:cs typeface="Inter Display"/>
              </a:rPr>
              <a:t>✓  5 safety checks</a:t>
            </a:r>
          </a:p>
        </p:txBody>
      </p:sp>
      <p:sp>
        <p:nvSpPr>
          <p:cNvPr id="23" name="r3"/>
          <p:cNvSpPr txBox="1"/>
          <p:nvPr/>
        </p:nvSpPr>
        <p:spPr>
          <a:xfrm>
            <a:off x="8216900" y="4216400"/>
            <a:ext cx="3365500" cy="2540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5F7FA"/>
                </a:solidFill>
                <a:latin typeface="Inter"/>
                <a:cs typeface="Inter"/>
              </a:rPr>
              <a:t>3  Only then: dispatch</a:t>
            </a:r>
          </a:p>
        </p:txBody>
      </p:sp>
      <p:sp>
        <p:nvSpPr>
          <p:cNvPr id="24" name="disp"/>
          <p:cNvSpPr/>
          <p:nvPr/>
        </p:nvSpPr>
        <p:spPr>
          <a:xfrm>
            <a:off x="8216900" y="4546600"/>
            <a:ext cx="3365500" cy="825500"/>
          </a:xfrm>
          <a:prstGeom prst="roundRect">
            <a:avLst>
              <a:gd name="adj" fmla="val 13846"/>
            </a:avLst>
          </a:prstGeom>
          <a:solidFill>
            <a:srgbClr val="FFB224"/>
          </a:solidFill>
          <a:ln>
            <a:noFill/>
          </a:ln>
        </p:spPr>
      </p:sp>
      <p:sp>
        <p:nvSpPr>
          <p:cNvPr id="25" name="disp_t"/>
          <p:cNvSpPr txBox="1"/>
          <p:nvPr/>
        </p:nvSpPr>
        <p:spPr>
          <a:xfrm>
            <a:off x="8216900" y="4660900"/>
            <a:ext cx="3365500" cy="381000"/>
          </a:xfrm>
          <a:prstGeom prst="rect">
            <a:avLst/>
          </a:prstGeom>
          <a:noFill/>
        </p:spPr>
        <p:txBody>
          <a:bodyPr wrap="none" lIns="0" tIns="0" rIns="0" bIns="0" anchor="t">
            <a:noAutofit/>
          </a:bodyPr>
          <a:lstStyle/>
          <a:p>
            <a:pPr algn="ctr">
              <a:lnSpc>
                <a:spcPct val="95041"/>
              </a:lnSpc>
              <a:spcBef>
                <a:spcPts val="0"/>
              </a:spcBef>
            </a:pPr>
            <a:r>
              <a:rPr lang="en-US" sz="2600" b="1" spc="-31" dirty="0">
                <a:solidFill>
                  <a:srgbClr val="0B0F14"/>
                </a:solidFill>
                <a:latin typeface="Inter Display"/>
                <a:cs typeface="Inter Display"/>
              </a:rPr>
              <a:t>Dispatch</a:t>
            </a:r>
          </a:p>
        </p:txBody>
      </p:sp>
      <p:sp>
        <p:nvSpPr>
          <p:cNvPr id="26" name="disp_s"/>
          <p:cNvSpPr txBox="1"/>
          <p:nvPr/>
        </p:nvSpPr>
        <p:spPr>
          <a:xfrm>
            <a:off x="8216900" y="5054600"/>
            <a:ext cx="3365500" cy="254000"/>
          </a:xfrm>
          <a:prstGeom prst="rect">
            <a:avLst/>
          </a:prstGeom>
          <a:noFill/>
        </p:spPr>
        <p:txBody>
          <a:bodyPr wrap="none" lIns="0" tIns="0" rIns="0" bIns="0" anchor="t">
            <a:noAutofit/>
          </a:bodyPr>
          <a:lstStyle/>
          <a:p>
            <a:pPr algn="ctr">
              <a:lnSpc>
                <a:spcPct val="95041"/>
              </a:lnSpc>
              <a:spcBef>
                <a:spcPts val="0"/>
              </a:spcBef>
            </a:pPr>
            <a:r>
              <a:rPr lang="en-US" sz="1500" spc="0" dirty="0">
                <a:solidFill>
                  <a:srgbClr val="0B0F14">
                    <a:alpha val="85000"/>
                  </a:srgbClr>
                </a:solidFill>
                <a:latin typeface="Inter SemiBold"/>
                <a:cs typeface="Inter SemiBold"/>
              </a:rPr>
              <a:t>10 s to undo</a:t>
            </a:r>
          </a:p>
        </p:txBody>
      </p:sp>
      <p:sp>
        <p:nvSpPr>
          <p:cNvPr id="27" name="sim"/>
          <p:cNvSpPr txBox="1"/>
          <p:nvPr/>
        </p:nvSpPr>
        <p:spPr>
          <a:xfrm>
            <a:off x="8216900" y="5562600"/>
            <a:ext cx="3365500" cy="508000"/>
          </a:xfrm>
          <a:prstGeom prst="rect">
            <a:avLst/>
          </a:prstGeom>
          <a:noFill/>
        </p:spPr>
        <p:txBody>
          <a:bodyPr wrap="none" lIns="0" tIns="0" rIns="0" bIns="0" anchor="t">
            <a:noAutofit/>
          </a:bodyPr>
          <a:lstStyle/>
          <a:p>
            <a:pPr algn="l">
              <a:lnSpc>
                <a:spcPct val="103306"/>
              </a:lnSpc>
              <a:spcBef>
                <a:spcPts val="0"/>
              </a:spcBef>
            </a:pPr>
            <a:r>
              <a:rPr lang="en-US" sz="1400" spc="0" dirty="0">
                <a:solidFill>
                  <a:srgbClr val="F5F7FA">
                    <a:alpha val="85000"/>
                  </a:srgbClr>
                </a:solidFill>
                <a:latin typeface="Inter"/>
                <a:cs typeface="Inter"/>
              </a:rPr>
              <a:t>Simulated fleet &amp; GPS.</a:t>
            </a:r>
            <a:br>
              <a:rPr lang="en-US" sz="1400" spc="0" dirty="0">
                <a:solidFill>
                  <a:srgbClr val="F5F7FA">
                    <a:alpha val="85000"/>
                  </a:srgbClr>
                </a:solidFill>
                <a:latin typeface="Inter"/>
                <a:cs typeface="Inter"/>
              </a:rPr>
            </a:br>
            <a:r>
              <a:rPr lang="en-US" sz="1400" spc="0" dirty="0">
                <a:solidFill>
                  <a:srgbClr val="F5F7FA">
                    <a:alpha val="85000"/>
                  </a:srgbClr>
                </a:solidFill>
                <a:latin typeface="Inter"/>
                <a:cs typeface="Inter"/>
              </a:rPr>
              <a:t>Water leg is an estimate.</a:t>
            </a:r>
          </a:p>
        </p:txBody>
      </p:sp>
      <p:sp>
        <p:nvSpPr>
          <p:cNvPr id="28"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Live capture, English UI, 6 May 2024 replay · map labels are local names · © OpenStreetMap contributors · Protomaps · MapLibre</a:t>
            </a:r>
          </a:p>
        </p:txBody>
      </p:sp>
      <p:sp>
        <p:nvSpPr>
          <p:cNvPr id="29"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457200"/>
            <a:ext cx="10972800" cy="59690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How the agents work together.</a:t>
            </a:r>
          </a:p>
        </p:txBody>
      </p:sp>
      <p:sp>
        <p:nvSpPr>
          <p:cNvPr id="5" name="numberline"/>
          <p:cNvSpPr txBox="1"/>
          <p:nvPr/>
        </p:nvSpPr>
        <p:spPr>
          <a:xfrm>
            <a:off x="609600" y="1155700"/>
            <a:ext cx="10972800" cy="317500"/>
          </a:xfrm>
          <a:prstGeom prst="rect">
            <a:avLst/>
          </a:prstGeom>
          <a:noFill/>
        </p:spPr>
        <p:txBody>
          <a:bodyPr wrap="none" lIns="0" tIns="0" rIns="0" bIns="0" anchor="t">
            <a:noAutofit/>
          </a:bodyPr>
          <a:lstStyle/>
          <a:p>
            <a:pPr algn="l">
              <a:lnSpc>
                <a:spcPct val="95041"/>
              </a:lnSpc>
              <a:spcBef>
                <a:spcPts val="0"/>
              </a:spcBef>
            </a:pPr>
            <a:r>
              <a:rPr lang="en-US" sz="1800" b="1" spc="-18" dirty="0">
                <a:solidFill>
                  <a:srgbClr val="FFB224"/>
                </a:solidFill>
                <a:latin typeface="Inter"/>
                <a:cs typeface="Inter"/>
              </a:rPr>
              <a:t>28 agents and loops</a:t>
            </a:r>
            <a:r>
              <a:rPr lang="en-US" sz="1800" spc="-18" dirty="0">
                <a:solidFill>
                  <a:srgbClr val="F5F7FA">
                    <a:alpha val="90000"/>
                  </a:srgbClr>
                </a:solidFill>
                <a:latin typeface="Inter"/>
                <a:cs typeface="Inter"/>
              </a:rPr>
              <a:t> · 19 model agents + 9 operational loops</a:t>
            </a:r>
          </a:p>
        </p:txBody>
      </p:sp>
      <p:sp>
        <p:nvSpPr>
          <p:cNvPr id="6" name="b_Read"/>
          <p:cNvSpPr/>
          <p:nvPr/>
        </p:nvSpPr>
        <p:spPr>
          <a:xfrm>
            <a:off x="609600" y="2362200"/>
            <a:ext cx="2438400" cy="1714500"/>
          </a:xfrm>
          <a:prstGeom prst="roundRect">
            <a:avLst>
              <a:gd name="adj" fmla="val 5926"/>
            </a:avLst>
          </a:prstGeom>
          <a:solidFill>
            <a:srgbClr val="FFFFFF">
              <a:alpha val="6000"/>
            </a:srgbClr>
          </a:solidFill>
          <a:ln w="12700">
            <a:solidFill>
              <a:srgbClr val="F5F7FA">
                <a:alpha val="35000"/>
              </a:srgbClr>
            </a:solidFill>
          </a:ln>
        </p:spPr>
      </p:sp>
      <p:sp>
        <p:nvSpPr>
          <p:cNvPr id="7" name="b_Read_t"/>
          <p:cNvSpPr txBox="1"/>
          <p:nvPr/>
        </p:nvSpPr>
        <p:spPr>
          <a:xfrm>
            <a:off x="609600" y="2673350"/>
            <a:ext cx="2438400" cy="476250"/>
          </a:xfrm>
          <a:prstGeom prst="rect">
            <a:avLst/>
          </a:prstGeom>
          <a:noFill/>
        </p:spPr>
        <p:txBody>
          <a:bodyPr wrap="none" lIns="0" tIns="0" rIns="0" bIns="0" anchor="t">
            <a:noAutofit/>
          </a:bodyPr>
          <a:lstStyle/>
          <a:p>
            <a:pPr algn="ctr">
              <a:lnSpc>
                <a:spcPct val="95041"/>
              </a:lnSpc>
              <a:spcBef>
                <a:spcPts val="0"/>
              </a:spcBef>
            </a:pPr>
            <a:r>
              <a:rPr lang="en-US" sz="3000" b="1" spc="-36" dirty="0">
                <a:solidFill>
                  <a:srgbClr val="F5F7FA"/>
                </a:solidFill>
                <a:latin typeface="Inter Display"/>
                <a:cs typeface="Inter Display"/>
              </a:rPr>
              <a:t>Read</a:t>
            </a:r>
          </a:p>
        </p:txBody>
      </p:sp>
      <p:sp>
        <p:nvSpPr>
          <p:cNvPr id="8" name="b_Read_s"/>
          <p:cNvSpPr txBox="1"/>
          <p:nvPr/>
        </p:nvSpPr>
        <p:spPr>
          <a:xfrm>
            <a:off x="609600" y="3219450"/>
            <a:ext cx="2438400" cy="577850"/>
          </a:xfrm>
          <a:prstGeom prst="rect">
            <a:avLst/>
          </a:prstGeom>
          <a:noFill/>
        </p:spPr>
        <p:txBody>
          <a:bodyPr wrap="none" lIns="0" tIns="0" rIns="0" bIns="0" anchor="t">
            <a:noAutofit/>
          </a:bodyPr>
          <a:lstStyle/>
          <a:p>
            <a:pPr algn="ctr">
              <a:lnSpc>
                <a:spcPct val="100826"/>
              </a:lnSpc>
              <a:spcBef>
                <a:spcPts val="0"/>
              </a:spcBef>
            </a:pPr>
            <a:r>
              <a:rPr lang="en-US" sz="1700" spc="-17" dirty="0">
                <a:solidFill>
                  <a:srgbClr val="F5F7FA">
                    <a:alpha val="95000"/>
                  </a:srgbClr>
                </a:solidFill>
                <a:latin typeface="Inter Medium"/>
                <a:cs typeface="Inter Medium"/>
              </a:rPr>
              <a:t>Intake · Location</a:t>
            </a:r>
            <a:br>
              <a:rPr lang="en-US" sz="1700" spc="-17" dirty="0">
                <a:solidFill>
                  <a:srgbClr val="F5F7FA">
                    <a:alpha val="95000"/>
                  </a:srgbClr>
                </a:solidFill>
                <a:latin typeface="Inter Medium"/>
                <a:cs typeface="Inter Medium"/>
              </a:rPr>
            </a:br>
            <a:r>
              <a:rPr lang="en-US" sz="1700" spc="-17" dirty="0">
                <a:solidFill>
                  <a:srgbClr val="F5F7FA">
                    <a:alpha val="95000"/>
                  </a:srgbClr>
                </a:solidFill>
                <a:latin typeface="Inter Medium"/>
                <a:cs typeface="Inter Medium"/>
              </a:rPr>
              <a:t>Critic · Hazard</a:t>
            </a:r>
          </a:p>
        </p:txBody>
      </p:sp>
      <p:sp>
        <p:nvSpPr>
          <p:cNvPr id="9" name="a0"/>
          <p:cNvSpPr/>
          <p:nvPr/>
        </p:nvSpPr>
        <p:spPr>
          <a:xfrm>
            <a:off x="3136900" y="3219450"/>
            <a:ext cx="215900" cy="6350"/>
          </a:xfrm>
          <a:custGeom>
            <a:avLst/>
            <a:gdLst/>
            <a:ahLst/>
            <a:cxnLst/>
            <a:rect l="0" t="0" r="r" b="b"/>
            <a:pathLst>
              <a:path w="215900" h="6350" fill="none">
                <a:moveTo>
                  <a:pt x="0" y="0"/>
                </a:moveTo>
                <a:lnTo>
                  <a:pt x="215900" y="0"/>
                </a:lnTo>
              </a:path>
            </a:pathLst>
          </a:custGeom>
          <a:noFill/>
          <a:ln w="38100" cap="rnd">
            <a:solidFill>
              <a:srgbClr val="F5F7FA">
                <a:alpha val="90000"/>
              </a:srgbClr>
            </a:solidFill>
            <a:round/>
            <a:tailEnd type="triangle" w="med" len="med"/>
          </a:ln>
        </p:spPr>
      </p:sp>
      <p:sp>
        <p:nvSpPr>
          <p:cNvPr id="10" name="b_Plan"/>
          <p:cNvSpPr/>
          <p:nvPr/>
        </p:nvSpPr>
        <p:spPr>
          <a:xfrm>
            <a:off x="3454400" y="2362200"/>
            <a:ext cx="2438400" cy="1714500"/>
          </a:xfrm>
          <a:prstGeom prst="roundRect">
            <a:avLst>
              <a:gd name="adj" fmla="val 5926"/>
            </a:avLst>
          </a:prstGeom>
          <a:solidFill>
            <a:srgbClr val="FFFFFF">
              <a:alpha val="6000"/>
            </a:srgbClr>
          </a:solidFill>
          <a:ln w="12700">
            <a:solidFill>
              <a:srgbClr val="F5F7FA">
                <a:alpha val="35000"/>
              </a:srgbClr>
            </a:solidFill>
          </a:ln>
        </p:spPr>
      </p:sp>
      <p:sp>
        <p:nvSpPr>
          <p:cNvPr id="11" name="b_Plan_t"/>
          <p:cNvSpPr txBox="1"/>
          <p:nvPr/>
        </p:nvSpPr>
        <p:spPr>
          <a:xfrm>
            <a:off x="3454400" y="2673350"/>
            <a:ext cx="2438400" cy="476250"/>
          </a:xfrm>
          <a:prstGeom prst="rect">
            <a:avLst/>
          </a:prstGeom>
          <a:noFill/>
        </p:spPr>
        <p:txBody>
          <a:bodyPr wrap="none" lIns="0" tIns="0" rIns="0" bIns="0" anchor="t">
            <a:noAutofit/>
          </a:bodyPr>
          <a:lstStyle/>
          <a:p>
            <a:pPr algn="ctr">
              <a:lnSpc>
                <a:spcPct val="95041"/>
              </a:lnSpc>
              <a:spcBef>
                <a:spcPts val="0"/>
              </a:spcBef>
            </a:pPr>
            <a:r>
              <a:rPr lang="en-US" sz="3000" b="1" spc="-36" dirty="0">
                <a:solidFill>
                  <a:srgbClr val="F5F7FA"/>
                </a:solidFill>
                <a:latin typeface="Inter Display"/>
                <a:cs typeface="Inter Display"/>
              </a:rPr>
              <a:t>Plan</a:t>
            </a:r>
          </a:p>
        </p:txBody>
      </p:sp>
      <p:sp>
        <p:nvSpPr>
          <p:cNvPr id="12" name="b_Plan_s"/>
          <p:cNvSpPr txBox="1"/>
          <p:nvPr/>
        </p:nvSpPr>
        <p:spPr>
          <a:xfrm>
            <a:off x="3454400" y="3219450"/>
            <a:ext cx="2438400" cy="577850"/>
          </a:xfrm>
          <a:prstGeom prst="rect">
            <a:avLst/>
          </a:prstGeom>
          <a:noFill/>
        </p:spPr>
        <p:txBody>
          <a:bodyPr wrap="none" lIns="0" tIns="0" rIns="0" bIns="0" anchor="t">
            <a:noAutofit/>
          </a:bodyPr>
          <a:lstStyle/>
          <a:p>
            <a:pPr algn="ctr">
              <a:lnSpc>
                <a:spcPct val="100826"/>
              </a:lnSpc>
              <a:spcBef>
                <a:spcPts val="0"/>
              </a:spcBef>
            </a:pPr>
            <a:r>
              <a:rPr lang="en-US" sz="1700" spc="-17" dirty="0">
                <a:solidFill>
                  <a:srgbClr val="F5F7FA">
                    <a:alpha val="95000"/>
                  </a:srgbClr>
                </a:solidFill>
                <a:latin typeface="Inter Medium"/>
                <a:cs typeface="Inter Medium"/>
              </a:rPr>
              <a:t>Fleet · Routing</a:t>
            </a:r>
            <a:br>
              <a:rPr lang="en-US" sz="1700" spc="-17" dirty="0">
                <a:solidFill>
                  <a:srgbClr val="F5F7FA">
                    <a:alpha val="95000"/>
                  </a:srgbClr>
                </a:solidFill>
                <a:latin typeface="Inter Medium"/>
                <a:cs typeface="Inter Medium"/>
              </a:rPr>
            </a:br>
            <a:r>
              <a:rPr lang="en-US" sz="1700" spc="-17" dirty="0">
                <a:solidFill>
                  <a:srgbClr val="F5F7FA">
                    <a:alpha val="95000"/>
                  </a:srgbClr>
                </a:solidFill>
                <a:latin typeface="Inter Medium"/>
                <a:cs typeface="Inter Medium"/>
              </a:rPr>
              <a:t>Landing · Shelter</a:t>
            </a:r>
          </a:p>
        </p:txBody>
      </p:sp>
      <p:sp>
        <p:nvSpPr>
          <p:cNvPr id="13" name="a1"/>
          <p:cNvSpPr/>
          <p:nvPr/>
        </p:nvSpPr>
        <p:spPr>
          <a:xfrm>
            <a:off x="5981700" y="3219450"/>
            <a:ext cx="215900" cy="6350"/>
          </a:xfrm>
          <a:custGeom>
            <a:avLst/>
            <a:gdLst/>
            <a:ahLst/>
            <a:cxnLst/>
            <a:rect l="0" t="0" r="r" b="b"/>
            <a:pathLst>
              <a:path w="215900" h="6350" fill="none">
                <a:moveTo>
                  <a:pt x="0" y="0"/>
                </a:moveTo>
                <a:lnTo>
                  <a:pt x="215900" y="0"/>
                </a:lnTo>
              </a:path>
            </a:pathLst>
          </a:custGeom>
          <a:noFill/>
          <a:ln w="38100" cap="rnd">
            <a:solidFill>
              <a:srgbClr val="F5F7FA">
                <a:alpha val="90000"/>
              </a:srgbClr>
            </a:solidFill>
            <a:round/>
            <a:tailEnd type="triangle" w="med" len="med"/>
          </a:ln>
        </p:spPr>
      </p:sp>
      <p:sp>
        <p:nvSpPr>
          <p:cNvPr id="14" name="b_Watch"/>
          <p:cNvSpPr/>
          <p:nvPr/>
        </p:nvSpPr>
        <p:spPr>
          <a:xfrm>
            <a:off x="6299200" y="2362200"/>
            <a:ext cx="2438400" cy="1714500"/>
          </a:xfrm>
          <a:prstGeom prst="roundRect">
            <a:avLst>
              <a:gd name="adj" fmla="val 5926"/>
            </a:avLst>
          </a:prstGeom>
          <a:solidFill>
            <a:srgbClr val="FFFFFF">
              <a:alpha val="6000"/>
            </a:srgbClr>
          </a:solidFill>
          <a:ln w="12700">
            <a:solidFill>
              <a:srgbClr val="F5F7FA">
                <a:alpha val="35000"/>
              </a:srgbClr>
            </a:solidFill>
          </a:ln>
        </p:spPr>
      </p:sp>
      <p:sp>
        <p:nvSpPr>
          <p:cNvPr id="15" name="b_Watch_t"/>
          <p:cNvSpPr txBox="1"/>
          <p:nvPr/>
        </p:nvSpPr>
        <p:spPr>
          <a:xfrm>
            <a:off x="6299200" y="2673350"/>
            <a:ext cx="2438400" cy="476250"/>
          </a:xfrm>
          <a:prstGeom prst="rect">
            <a:avLst/>
          </a:prstGeom>
          <a:noFill/>
        </p:spPr>
        <p:txBody>
          <a:bodyPr wrap="none" lIns="0" tIns="0" rIns="0" bIns="0" anchor="t">
            <a:noAutofit/>
          </a:bodyPr>
          <a:lstStyle/>
          <a:p>
            <a:pPr algn="ctr">
              <a:lnSpc>
                <a:spcPct val="95041"/>
              </a:lnSpc>
              <a:spcBef>
                <a:spcPts val="0"/>
              </a:spcBef>
            </a:pPr>
            <a:r>
              <a:rPr lang="en-US" sz="3000" b="1" spc="-36" dirty="0">
                <a:solidFill>
                  <a:srgbClr val="F5F7FA"/>
                </a:solidFill>
                <a:latin typeface="Inter Display"/>
                <a:cs typeface="Inter Display"/>
              </a:rPr>
              <a:t>Watch</a:t>
            </a:r>
          </a:p>
        </p:txBody>
      </p:sp>
      <p:sp>
        <p:nvSpPr>
          <p:cNvPr id="16" name="b_Watch_s"/>
          <p:cNvSpPr txBox="1"/>
          <p:nvPr/>
        </p:nvSpPr>
        <p:spPr>
          <a:xfrm>
            <a:off x="6299200" y="3219450"/>
            <a:ext cx="2438400" cy="577850"/>
          </a:xfrm>
          <a:prstGeom prst="rect">
            <a:avLst/>
          </a:prstGeom>
          <a:noFill/>
        </p:spPr>
        <p:txBody>
          <a:bodyPr wrap="none" lIns="0" tIns="0" rIns="0" bIns="0" anchor="t">
            <a:noAutofit/>
          </a:bodyPr>
          <a:lstStyle/>
          <a:p>
            <a:pPr algn="ctr">
              <a:lnSpc>
                <a:spcPct val="100826"/>
              </a:lnSpc>
              <a:spcBef>
                <a:spcPts val="0"/>
              </a:spcBef>
            </a:pPr>
            <a:r>
              <a:rPr lang="en-US" sz="1700" spc="-17" dirty="0">
                <a:solidFill>
                  <a:srgbClr val="F5F7FA">
                    <a:alpha val="95000"/>
                  </a:srgbClr>
                </a:solidFill>
                <a:latin typeface="Inter Medium"/>
                <a:cs typeface="Inter Medium"/>
              </a:rPr>
              <a:t>Supervisor</a:t>
            </a:r>
            <a:br>
              <a:rPr lang="en-US" sz="1700" spc="-17" dirty="0">
                <a:solidFill>
                  <a:srgbClr val="F5F7FA">
                    <a:alpha val="95000"/>
                  </a:srgbClr>
                </a:solidFill>
                <a:latin typeface="Inter Medium"/>
                <a:cs typeface="Inter Medium"/>
              </a:rPr>
            </a:br>
            <a:r>
              <a:rPr lang="en-US" sz="1700" spc="-17" dirty="0">
                <a:solidFill>
                  <a:srgbClr val="F5F7FA">
                    <a:alpha val="95000"/>
                  </a:srgbClr>
                </a:solidFill>
                <a:latin typeface="Inter Medium"/>
                <a:cs typeface="Inter Medium"/>
              </a:rPr>
              <a:t>Field feedback</a:t>
            </a:r>
          </a:p>
        </p:txBody>
      </p:sp>
      <p:sp>
        <p:nvSpPr>
          <p:cNvPr id="17" name="a2"/>
          <p:cNvSpPr/>
          <p:nvPr/>
        </p:nvSpPr>
        <p:spPr>
          <a:xfrm>
            <a:off x="8826500" y="3219450"/>
            <a:ext cx="215900" cy="6350"/>
          </a:xfrm>
          <a:custGeom>
            <a:avLst/>
            <a:gdLst/>
            <a:ahLst/>
            <a:cxnLst/>
            <a:rect l="0" t="0" r="r" b="b"/>
            <a:pathLst>
              <a:path w="215900" h="6350" fill="none">
                <a:moveTo>
                  <a:pt x="0" y="0"/>
                </a:moveTo>
                <a:lnTo>
                  <a:pt x="215900" y="0"/>
                </a:lnTo>
              </a:path>
            </a:pathLst>
          </a:custGeom>
          <a:noFill/>
          <a:ln w="38100" cap="rnd">
            <a:solidFill>
              <a:srgbClr val="F5F7FA">
                <a:alpha val="90000"/>
              </a:srgbClr>
            </a:solidFill>
            <a:round/>
            <a:tailEnd type="triangle" w="med" len="med"/>
          </a:ln>
        </p:spPr>
      </p:sp>
      <p:sp>
        <p:nvSpPr>
          <p:cNvPr id="18" name="b_Human"/>
          <p:cNvSpPr/>
          <p:nvPr/>
        </p:nvSpPr>
        <p:spPr>
          <a:xfrm>
            <a:off x="9144000" y="2362200"/>
            <a:ext cx="2438400" cy="1714500"/>
          </a:xfrm>
          <a:prstGeom prst="roundRect">
            <a:avLst>
              <a:gd name="adj" fmla="val 5926"/>
            </a:avLst>
          </a:prstGeom>
          <a:solidFill>
            <a:srgbClr val="FFB224">
              <a:alpha val="10000"/>
            </a:srgbClr>
          </a:solidFill>
          <a:ln w="19050">
            <a:solidFill>
              <a:srgbClr val="FFB224">
                <a:alpha val="90000"/>
              </a:srgbClr>
            </a:solidFill>
          </a:ln>
        </p:spPr>
      </p:sp>
      <p:sp>
        <p:nvSpPr>
          <p:cNvPr id="19" name="b_Human_t"/>
          <p:cNvSpPr txBox="1"/>
          <p:nvPr/>
        </p:nvSpPr>
        <p:spPr>
          <a:xfrm>
            <a:off x="9144000" y="2673350"/>
            <a:ext cx="2438400" cy="476250"/>
          </a:xfrm>
          <a:prstGeom prst="rect">
            <a:avLst/>
          </a:prstGeom>
          <a:noFill/>
        </p:spPr>
        <p:txBody>
          <a:bodyPr wrap="none" lIns="0" tIns="0" rIns="0" bIns="0" anchor="t">
            <a:noAutofit/>
          </a:bodyPr>
          <a:lstStyle/>
          <a:p>
            <a:pPr algn="ctr">
              <a:lnSpc>
                <a:spcPct val="95041"/>
              </a:lnSpc>
              <a:spcBef>
                <a:spcPts val="0"/>
              </a:spcBef>
            </a:pPr>
            <a:r>
              <a:rPr lang="en-US" sz="3000" b="1" spc="-36" dirty="0">
                <a:solidFill>
                  <a:srgbClr val="FFB224"/>
                </a:solidFill>
                <a:latin typeface="Inter Display"/>
                <a:cs typeface="Inter Display"/>
              </a:rPr>
              <a:t>Human</a:t>
            </a:r>
          </a:p>
        </p:txBody>
      </p:sp>
      <p:sp>
        <p:nvSpPr>
          <p:cNvPr id="20" name="b_Human_s"/>
          <p:cNvSpPr txBox="1"/>
          <p:nvPr/>
        </p:nvSpPr>
        <p:spPr>
          <a:xfrm>
            <a:off x="9144000" y="3219450"/>
            <a:ext cx="2438400" cy="577850"/>
          </a:xfrm>
          <a:prstGeom prst="rect">
            <a:avLst/>
          </a:prstGeom>
          <a:noFill/>
        </p:spPr>
        <p:txBody>
          <a:bodyPr wrap="none" lIns="0" tIns="0" rIns="0" bIns="0" anchor="t">
            <a:noAutofit/>
          </a:bodyPr>
          <a:lstStyle/>
          <a:p>
            <a:pPr algn="ctr">
              <a:lnSpc>
                <a:spcPct val="100826"/>
              </a:lnSpc>
              <a:spcBef>
                <a:spcPts val="0"/>
              </a:spcBef>
            </a:pPr>
            <a:r>
              <a:rPr lang="en-US" sz="1700" spc="-17" dirty="0">
                <a:solidFill>
                  <a:srgbClr val="F5F7FA">
                    <a:alpha val="95000"/>
                  </a:srgbClr>
                </a:solidFill>
                <a:latin typeface="Inter Medium"/>
                <a:cs typeface="Inter Medium"/>
              </a:rPr>
              <a:t>approves</a:t>
            </a:r>
            <a:br>
              <a:rPr lang="en-US" sz="1700" spc="-17" dirty="0">
                <a:solidFill>
                  <a:srgbClr val="F5F7FA">
                    <a:alpha val="95000"/>
                  </a:srgbClr>
                </a:solidFill>
                <a:latin typeface="Inter Medium"/>
                <a:cs typeface="Inter Medium"/>
              </a:rPr>
            </a:br>
            <a:r>
              <a:rPr lang="en-US" sz="1700" spc="-17" dirty="0">
                <a:solidFill>
                  <a:srgbClr val="F5F7FA">
                    <a:alpha val="95000"/>
                  </a:srgbClr>
                </a:solidFill>
                <a:latin typeface="Inter Medium"/>
                <a:cs typeface="Inter Medium"/>
              </a:rPr>
              <a:t>every boat</a:t>
            </a:r>
          </a:p>
        </p:txBody>
      </p:sp>
      <p:sp>
        <p:nvSpPr>
          <p:cNvPr id="21" name="l_cb"/>
          <p:cNvSpPr/>
          <p:nvPr/>
        </p:nvSpPr>
        <p:spPr>
          <a:xfrm>
            <a:off x="1219200" y="2006600"/>
            <a:ext cx="1219200" cy="330200"/>
          </a:xfrm>
          <a:custGeom>
            <a:avLst/>
            <a:gdLst/>
            <a:ahLst/>
            <a:cxnLst/>
            <a:rect l="0" t="0" r="r" b="b"/>
            <a:pathLst>
              <a:path w="1219200" h="330200" fill="none">
                <a:moveTo>
                  <a:pt x="1219200" y="330200"/>
                </a:moveTo>
                <a:lnTo>
                  <a:pt x="1219200" y="0"/>
                </a:lnTo>
                <a:lnTo>
                  <a:pt x="0" y="0"/>
                </a:lnTo>
                <a:lnTo>
                  <a:pt x="0" y="298450"/>
                </a:lnTo>
              </a:path>
            </a:pathLst>
          </a:custGeom>
          <a:noFill/>
          <a:ln w="31750" cap="rnd">
            <a:solidFill>
              <a:srgbClr val="3BA3FF"/>
            </a:solidFill>
            <a:round/>
            <a:tailEnd type="triangle" w="med" len="med"/>
          </a:ln>
        </p:spPr>
      </p:sp>
      <p:sp>
        <p:nvSpPr>
          <p:cNvPr id="22" name="l_cb_t"/>
          <p:cNvSpPr txBox="1"/>
          <p:nvPr/>
        </p:nvSpPr>
        <p:spPr>
          <a:xfrm>
            <a:off x="1168400" y="1663700"/>
            <a:ext cx="3429000" cy="279400"/>
          </a:xfrm>
          <a:prstGeom prst="rect">
            <a:avLst/>
          </a:prstGeom>
          <a:noFill/>
        </p:spPr>
        <p:txBody>
          <a:bodyPr wrap="none" lIns="0" tIns="0" rIns="0" bIns="0" anchor="t">
            <a:noAutofit/>
          </a:bodyPr>
          <a:lstStyle/>
          <a:p>
            <a:pPr algn="l">
              <a:lnSpc>
                <a:spcPct val="95041"/>
              </a:lnSpc>
              <a:spcBef>
                <a:spcPts val="0"/>
              </a:spcBef>
            </a:pPr>
            <a:r>
              <a:rPr lang="en-US" sz="1600" b="1" spc="0" dirty="0">
                <a:solidFill>
                  <a:srgbClr val="3BA3FF"/>
                </a:solidFill>
                <a:latin typeface="Inter"/>
                <a:cs typeface="Inter"/>
              </a:rPr>
              <a:t>Callback: ask back, same channel</a:t>
            </a:r>
          </a:p>
        </p:txBody>
      </p:sp>
      <p:sp>
        <p:nvSpPr>
          <p:cNvPr id="23" name="l_rr"/>
          <p:cNvSpPr/>
          <p:nvPr/>
        </p:nvSpPr>
        <p:spPr>
          <a:xfrm>
            <a:off x="5283200" y="2006600"/>
            <a:ext cx="1625600" cy="330200"/>
          </a:xfrm>
          <a:custGeom>
            <a:avLst/>
            <a:gdLst/>
            <a:ahLst/>
            <a:cxnLst/>
            <a:rect l="0" t="0" r="r" b="b"/>
            <a:pathLst>
              <a:path w="1625600" h="330200" fill="none">
                <a:moveTo>
                  <a:pt x="1625600" y="330200"/>
                </a:moveTo>
                <a:lnTo>
                  <a:pt x="1625600" y="0"/>
                </a:lnTo>
                <a:lnTo>
                  <a:pt x="0" y="0"/>
                </a:lnTo>
                <a:lnTo>
                  <a:pt x="0" y="298450"/>
                </a:lnTo>
              </a:path>
            </a:pathLst>
          </a:custGeom>
          <a:noFill/>
          <a:ln w="31750" cap="rnd">
            <a:solidFill>
              <a:srgbClr val="3BA3FF"/>
            </a:solidFill>
            <a:round/>
            <a:tailEnd type="triangle" w="med" len="med"/>
          </a:ln>
        </p:spPr>
      </p:sp>
      <p:sp>
        <p:nvSpPr>
          <p:cNvPr id="24" name="l_rr_t"/>
          <p:cNvSpPr txBox="1"/>
          <p:nvPr/>
        </p:nvSpPr>
        <p:spPr>
          <a:xfrm>
            <a:off x="4381500" y="1663700"/>
            <a:ext cx="3429000" cy="279400"/>
          </a:xfrm>
          <a:prstGeom prst="rect">
            <a:avLst/>
          </a:prstGeom>
          <a:noFill/>
        </p:spPr>
        <p:txBody>
          <a:bodyPr wrap="none" lIns="0" tIns="0" rIns="0" bIns="0" anchor="t">
            <a:noAutofit/>
          </a:bodyPr>
          <a:lstStyle/>
          <a:p>
            <a:pPr algn="ctr">
              <a:lnSpc>
                <a:spcPct val="95041"/>
              </a:lnSpc>
              <a:spcBef>
                <a:spcPts val="0"/>
              </a:spcBef>
            </a:pPr>
            <a:r>
              <a:rPr lang="en-US" sz="1600" b="1" spc="0" dirty="0">
                <a:solidFill>
                  <a:srgbClr val="3BA3FF"/>
                </a:solidFill>
                <a:latin typeface="Inter"/>
                <a:cs typeface="Inter"/>
              </a:rPr>
              <a:t>Reroute on a new P1</a:t>
            </a:r>
          </a:p>
        </p:txBody>
      </p:sp>
      <p:sp>
        <p:nvSpPr>
          <p:cNvPr id="25" name="l_sv"/>
          <p:cNvSpPr/>
          <p:nvPr/>
        </p:nvSpPr>
        <p:spPr>
          <a:xfrm>
            <a:off x="8128000" y="2006600"/>
            <a:ext cx="1625600" cy="330200"/>
          </a:xfrm>
          <a:custGeom>
            <a:avLst/>
            <a:gdLst/>
            <a:ahLst/>
            <a:cxnLst/>
            <a:rect l="0" t="0" r="r" b="b"/>
            <a:pathLst>
              <a:path w="1625600" h="330200" fill="none">
                <a:moveTo>
                  <a:pt x="0" y="330200"/>
                </a:moveTo>
                <a:lnTo>
                  <a:pt x="0" y="0"/>
                </a:lnTo>
                <a:lnTo>
                  <a:pt x="1625600" y="0"/>
                </a:lnTo>
                <a:lnTo>
                  <a:pt x="1625600" y="298450"/>
                </a:lnTo>
              </a:path>
            </a:pathLst>
          </a:custGeom>
          <a:noFill/>
          <a:ln w="31750" cap="rnd">
            <a:solidFill>
              <a:srgbClr val="3BA3FF"/>
            </a:solidFill>
            <a:round/>
            <a:tailEnd type="triangle" w="med" len="med"/>
          </a:ln>
        </p:spPr>
      </p:sp>
      <p:sp>
        <p:nvSpPr>
          <p:cNvPr id="26" name="l_sv_t"/>
          <p:cNvSpPr txBox="1"/>
          <p:nvPr/>
        </p:nvSpPr>
        <p:spPr>
          <a:xfrm>
            <a:off x="7226300" y="1663700"/>
            <a:ext cx="3429000" cy="279400"/>
          </a:xfrm>
          <a:prstGeom prst="rect">
            <a:avLst/>
          </a:prstGeom>
          <a:noFill/>
        </p:spPr>
        <p:txBody>
          <a:bodyPr wrap="none" lIns="0" tIns="0" rIns="0" bIns="0" anchor="t">
            <a:noAutofit/>
          </a:bodyPr>
          <a:lstStyle/>
          <a:p>
            <a:pPr algn="ctr">
              <a:lnSpc>
                <a:spcPct val="95041"/>
              </a:lnSpc>
              <a:spcBef>
                <a:spcPts val="0"/>
              </a:spcBef>
            </a:pPr>
            <a:r>
              <a:rPr lang="en-US" sz="1600" b="1" spc="0" dirty="0">
                <a:solidFill>
                  <a:srgbClr val="3BA3FF"/>
                </a:solidFill>
                <a:latin typeface="Inter"/>
                <a:cs typeface="Inter"/>
              </a:rPr>
              <a:t>Supervisor alerts</a:t>
            </a:r>
          </a:p>
        </p:txBody>
      </p:sp>
      <p:sp>
        <p:nvSpPr>
          <p:cNvPr id="27" name="w0"/>
          <p:cNvSpPr/>
          <p:nvPr/>
        </p:nvSpPr>
        <p:spPr>
          <a:xfrm>
            <a:off x="1828800" y="4165600"/>
            <a:ext cx="6350" cy="342900"/>
          </a:xfrm>
          <a:custGeom>
            <a:avLst/>
            <a:gdLst/>
            <a:ahLst/>
            <a:cxnLst/>
            <a:rect l="0" t="0" r="r" b="b"/>
            <a:pathLst>
              <a:path w="6350" h="342900" fill="none">
                <a:moveTo>
                  <a:pt x="0" y="0"/>
                </a:moveTo>
                <a:lnTo>
                  <a:pt x="0" y="342900"/>
                </a:lnTo>
              </a:path>
            </a:pathLst>
          </a:custGeom>
          <a:noFill/>
          <a:ln w="31750" cap="rnd">
            <a:solidFill>
              <a:srgbClr val="B48CFF"/>
            </a:solidFill>
            <a:prstDash val="dash"/>
            <a:round/>
            <a:tailEnd type="triangle" w="med" len="med"/>
          </a:ln>
        </p:spPr>
      </p:sp>
      <p:sp>
        <p:nvSpPr>
          <p:cNvPr id="28" name="w1"/>
          <p:cNvSpPr/>
          <p:nvPr/>
        </p:nvSpPr>
        <p:spPr>
          <a:xfrm>
            <a:off x="4673600" y="4165600"/>
            <a:ext cx="6350" cy="342900"/>
          </a:xfrm>
          <a:custGeom>
            <a:avLst/>
            <a:gdLst/>
            <a:ahLst/>
            <a:cxnLst/>
            <a:rect l="0" t="0" r="r" b="b"/>
            <a:pathLst>
              <a:path w="6350" h="342900" fill="none">
                <a:moveTo>
                  <a:pt x="0" y="0"/>
                </a:moveTo>
                <a:lnTo>
                  <a:pt x="0" y="342900"/>
                </a:lnTo>
              </a:path>
            </a:pathLst>
          </a:custGeom>
          <a:noFill/>
          <a:ln w="31750" cap="rnd">
            <a:solidFill>
              <a:srgbClr val="B48CFF"/>
            </a:solidFill>
            <a:prstDash val="dash"/>
            <a:round/>
            <a:tailEnd type="triangle" w="med" len="med"/>
          </a:ln>
        </p:spPr>
      </p:sp>
      <p:sp>
        <p:nvSpPr>
          <p:cNvPr id="29" name="w2"/>
          <p:cNvSpPr/>
          <p:nvPr/>
        </p:nvSpPr>
        <p:spPr>
          <a:xfrm>
            <a:off x="7518400" y="4165600"/>
            <a:ext cx="6350" cy="342900"/>
          </a:xfrm>
          <a:custGeom>
            <a:avLst/>
            <a:gdLst/>
            <a:ahLst/>
            <a:cxnLst/>
            <a:rect l="0" t="0" r="r" b="b"/>
            <a:pathLst>
              <a:path w="6350" h="342900" fill="none">
                <a:moveTo>
                  <a:pt x="0" y="0"/>
                </a:moveTo>
                <a:lnTo>
                  <a:pt x="0" y="342900"/>
                </a:lnTo>
              </a:path>
            </a:pathLst>
          </a:custGeom>
          <a:noFill/>
          <a:ln w="31750" cap="rnd">
            <a:solidFill>
              <a:srgbClr val="B48CFF"/>
            </a:solidFill>
            <a:prstDash val="dash"/>
            <a:round/>
            <a:tailEnd type="triangle" w="med" len="med"/>
          </a:ln>
        </p:spPr>
      </p:sp>
      <p:sp>
        <p:nvSpPr>
          <p:cNvPr id="30" name="w3"/>
          <p:cNvSpPr/>
          <p:nvPr/>
        </p:nvSpPr>
        <p:spPr>
          <a:xfrm>
            <a:off x="10363200" y="4165600"/>
            <a:ext cx="6350" cy="342900"/>
          </a:xfrm>
          <a:custGeom>
            <a:avLst/>
            <a:gdLst/>
            <a:ahLst/>
            <a:cxnLst/>
            <a:rect l="0" t="0" r="r" b="b"/>
            <a:pathLst>
              <a:path w="6350" h="342900" fill="none">
                <a:moveTo>
                  <a:pt x="0" y="0"/>
                </a:moveTo>
                <a:lnTo>
                  <a:pt x="0" y="342900"/>
                </a:lnTo>
              </a:path>
            </a:pathLst>
          </a:custGeom>
          <a:noFill/>
          <a:ln w="31750" cap="rnd">
            <a:solidFill>
              <a:srgbClr val="B48CFF"/>
            </a:solidFill>
            <a:prstDash val="dash"/>
            <a:round/>
            <a:tailEnd type="triangle" w="med" len="med"/>
          </a:ln>
        </p:spPr>
      </p:sp>
      <p:sp>
        <p:nvSpPr>
          <p:cNvPr id="31" name="wm"/>
          <p:cNvSpPr/>
          <p:nvPr/>
        </p:nvSpPr>
        <p:spPr>
          <a:xfrm>
            <a:off x="609600" y="4635500"/>
            <a:ext cx="10972800" cy="1397000"/>
          </a:xfrm>
          <a:prstGeom prst="roundRect">
            <a:avLst>
              <a:gd name="adj" fmla="val 9091"/>
            </a:avLst>
          </a:prstGeom>
          <a:solidFill>
            <a:srgbClr val="B48CFF">
              <a:alpha val="10000"/>
            </a:srgbClr>
          </a:solidFill>
          <a:ln w="19050">
            <a:solidFill>
              <a:srgbClr val="B48CFF">
                <a:alpha val="90000"/>
              </a:srgbClr>
            </a:solidFill>
          </a:ln>
        </p:spPr>
      </p:sp>
      <p:sp>
        <p:nvSpPr>
          <p:cNvPr id="32" name="wm_k"/>
          <p:cNvSpPr txBox="1"/>
          <p:nvPr/>
        </p:nvSpPr>
        <p:spPr>
          <a:xfrm>
            <a:off x="914400" y="48514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B48CFF"/>
                </a:solidFill>
                <a:latin typeface="Inter"/>
                <a:cs typeface="Inter"/>
              </a:rPr>
              <a:t>METERLESS WORLD MODEL</a:t>
            </a:r>
          </a:p>
        </p:txBody>
      </p:sp>
      <p:sp>
        <p:nvSpPr>
          <p:cNvPr id="33" name="wm_t"/>
          <p:cNvSpPr txBox="1"/>
          <p:nvPr/>
        </p:nvSpPr>
        <p:spPr>
          <a:xfrm>
            <a:off x="914400" y="5143500"/>
            <a:ext cx="6985000" cy="444500"/>
          </a:xfrm>
          <a:prstGeom prst="rect">
            <a:avLst/>
          </a:prstGeom>
          <a:noFill/>
        </p:spPr>
        <p:txBody>
          <a:bodyPr wrap="none" lIns="0" tIns="0" rIns="0" bIns="0" anchor="t">
            <a:noAutofit/>
          </a:bodyPr>
          <a:lstStyle/>
          <a:p>
            <a:pPr algn="l">
              <a:lnSpc>
                <a:spcPct val="95041"/>
              </a:lnSpc>
              <a:spcBef>
                <a:spcPts val="0"/>
              </a:spcBef>
            </a:pPr>
            <a:r>
              <a:rPr lang="en-US" sz="2800" b="1" spc="-34" dirty="0">
                <a:solidFill>
                  <a:srgbClr val="F5F7FA"/>
                </a:solidFill>
                <a:latin typeface="Inter Display"/>
                <a:cs typeface="Inter Display"/>
              </a:rPr>
              <a:t>One shared event log</a:t>
            </a:r>
          </a:p>
        </p:txBody>
      </p:sp>
      <p:sp>
        <p:nvSpPr>
          <p:cNvPr id="34" name="wm_s"/>
          <p:cNvSpPr txBox="1"/>
          <p:nvPr/>
        </p:nvSpPr>
        <p:spPr>
          <a:xfrm>
            <a:off x="914400" y="5600700"/>
            <a:ext cx="6985000" cy="317500"/>
          </a:xfrm>
          <a:prstGeom prst="rect">
            <a:avLst/>
          </a:prstGeom>
          <a:noFill/>
        </p:spPr>
        <p:txBody>
          <a:bodyPr wrap="none" lIns="0" tIns="0" rIns="0" bIns="0" anchor="t">
            <a:noAutofit/>
          </a:bodyPr>
          <a:lstStyle/>
          <a:p>
            <a:pPr algn="l">
              <a:lnSpc>
                <a:spcPct val="95041"/>
              </a:lnSpc>
              <a:spcBef>
                <a:spcPts val="0"/>
              </a:spcBef>
            </a:pPr>
            <a:r>
              <a:rPr lang="en-US" sz="1800" spc="-18" dirty="0">
                <a:solidFill>
                  <a:srgbClr val="F5F7FA">
                    <a:alpha val="95000"/>
                  </a:srgbClr>
                </a:solidFill>
                <a:latin typeface="Inter Medium"/>
                <a:cs typeface="Inter Medium"/>
              </a:rPr>
              <a:t>Every agent action recorded and replayable.</a:t>
            </a:r>
          </a:p>
        </p:txBody>
      </p:sp>
      <p:sp>
        <p:nvSpPr>
          <p:cNvPr id="35" name="ev0"/>
          <p:cNvSpPr/>
          <p:nvPr/>
        </p:nvSpPr>
        <p:spPr>
          <a:xfrm>
            <a:off x="7302500" y="4826000"/>
            <a:ext cx="3975100" cy="304800"/>
          </a:xfrm>
          <a:prstGeom prst="roundRect">
            <a:avLst>
              <a:gd name="adj" fmla="val 20833"/>
            </a:avLst>
          </a:prstGeom>
          <a:solidFill>
            <a:srgbClr val="B48CFF">
              <a:alpha val="16000"/>
            </a:srgbClr>
          </a:solidFill>
          <a:ln>
            <a:noFill/>
          </a:ln>
        </p:spPr>
      </p:sp>
      <p:sp>
        <p:nvSpPr>
          <p:cNvPr id="36" name="ev0_t"/>
          <p:cNvSpPr txBox="1"/>
          <p:nvPr/>
        </p:nvSpPr>
        <p:spPr>
          <a:xfrm>
            <a:off x="7467600" y="4857750"/>
            <a:ext cx="3810000" cy="2540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95000"/>
                  </a:srgbClr>
                </a:solidFill>
                <a:latin typeface="Inter Medium"/>
                <a:cs typeface="Inter Medium"/>
              </a:rPr>
              <a:t>Intake → Location</a:t>
            </a:r>
          </a:p>
        </p:txBody>
      </p:sp>
      <p:sp>
        <p:nvSpPr>
          <p:cNvPr id="37" name="ev1"/>
          <p:cNvSpPr/>
          <p:nvPr/>
        </p:nvSpPr>
        <p:spPr>
          <a:xfrm>
            <a:off x="7302500" y="5181600"/>
            <a:ext cx="3975100" cy="304800"/>
          </a:xfrm>
          <a:prstGeom prst="roundRect">
            <a:avLst>
              <a:gd name="adj" fmla="val 20833"/>
            </a:avLst>
          </a:prstGeom>
          <a:solidFill>
            <a:srgbClr val="B48CFF">
              <a:alpha val="16000"/>
            </a:srgbClr>
          </a:solidFill>
          <a:ln>
            <a:noFill/>
          </a:ln>
        </p:spPr>
      </p:sp>
      <p:sp>
        <p:nvSpPr>
          <p:cNvPr id="38" name="ev1_t"/>
          <p:cNvSpPr txBox="1"/>
          <p:nvPr/>
        </p:nvSpPr>
        <p:spPr>
          <a:xfrm>
            <a:off x="7467600" y="5213350"/>
            <a:ext cx="3810000" cy="2540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95000"/>
                  </a:srgbClr>
                </a:solidFill>
                <a:latin typeface="Inter Medium"/>
                <a:cs typeface="Inter Medium"/>
              </a:rPr>
              <a:t>Location → street lookup</a:t>
            </a:r>
          </a:p>
        </p:txBody>
      </p:sp>
      <p:sp>
        <p:nvSpPr>
          <p:cNvPr id="39" name="ev2"/>
          <p:cNvSpPr/>
          <p:nvPr/>
        </p:nvSpPr>
        <p:spPr>
          <a:xfrm>
            <a:off x="7302500" y="5537200"/>
            <a:ext cx="3975100" cy="304800"/>
          </a:xfrm>
          <a:prstGeom prst="roundRect">
            <a:avLst>
              <a:gd name="adj" fmla="val 20833"/>
            </a:avLst>
          </a:prstGeom>
          <a:solidFill>
            <a:srgbClr val="B48CFF">
              <a:alpha val="16000"/>
            </a:srgbClr>
          </a:solidFill>
          <a:ln>
            <a:noFill/>
          </a:ln>
        </p:spPr>
      </p:sp>
      <p:sp>
        <p:nvSpPr>
          <p:cNvPr id="40" name="ev2_t"/>
          <p:cNvSpPr txBox="1"/>
          <p:nvPr/>
        </p:nvSpPr>
        <p:spPr>
          <a:xfrm>
            <a:off x="7467600" y="5568950"/>
            <a:ext cx="3810000" cy="254000"/>
          </a:xfrm>
          <a:prstGeom prst="rect">
            <a:avLst/>
          </a:prstGeom>
          <a:noFill/>
        </p:spPr>
        <p:txBody>
          <a:bodyPr wrap="none" lIns="0" tIns="0" rIns="0" bIns="0" anchor="t">
            <a:noAutofit/>
          </a:bodyPr>
          <a:lstStyle/>
          <a:p>
            <a:pPr algn="l">
              <a:lnSpc>
                <a:spcPct val="95041"/>
              </a:lnSpc>
              <a:spcBef>
                <a:spcPts val="0"/>
              </a:spcBef>
            </a:pPr>
            <a:r>
              <a:rPr lang="en-US" sz="1600" spc="0" dirty="0">
                <a:solidFill>
                  <a:srgbClr val="F5F7FA">
                    <a:alpha val="95000"/>
                  </a:srgbClr>
                </a:solidFill>
                <a:latin typeface="Inter Medium"/>
                <a:cs typeface="Inter Medium"/>
              </a:rPr>
              <a:t>Decision → human approval</a:t>
            </a:r>
          </a:p>
        </p:txBody>
      </p:sp>
      <p:sp>
        <p:nvSpPr>
          <p:cNvPr id="41"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Counted from the code’s agent roster: 19 model agents + 9 operational loops · event log entries from the live run</a:t>
            </a:r>
          </a:p>
        </p:txBody>
      </p:sp>
      <p:sp>
        <p:nvSpPr>
          <p:cNvPr id="42"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622300"/>
          </a:xfrm>
          <a:prstGeom prst="rect">
            <a:avLst/>
          </a:prstGeom>
          <a:noFill/>
        </p:spPr>
        <p:txBody>
          <a:bodyPr wrap="none" lIns="0" tIns="0" rIns="0" bIns="0" anchor="t">
            <a:noAutofit/>
          </a:bodyPr>
          <a:lstStyle/>
          <a:p>
            <a:pPr algn="l">
              <a:lnSpc>
                <a:spcPct val="87603"/>
              </a:lnSpc>
              <a:spcBef>
                <a:spcPts val="0"/>
              </a:spcBef>
            </a:pPr>
            <a:r>
              <a:rPr lang="en-US" sz="4000" b="1" spc="-48" dirty="0">
                <a:solidFill>
                  <a:srgbClr val="F5F7FA"/>
                </a:solidFill>
                <a:latin typeface="Inter Display"/>
                <a:cs typeface="Inter Display"/>
              </a:rPr>
              <a:t>Built safety-first. Tested hard.</a:t>
            </a:r>
          </a:p>
        </p:txBody>
      </p:sp>
      <p:sp>
        <p:nvSpPr>
          <p:cNvPr id="5" name="st0"/>
          <p:cNvSpPr/>
          <p:nvPr/>
        </p:nvSpPr>
        <p:spPr>
          <a:xfrm>
            <a:off x="609600" y="1498600"/>
            <a:ext cx="3454400" cy="2794000"/>
          </a:xfrm>
          <a:prstGeom prst="roundRect">
            <a:avLst>
              <a:gd name="adj" fmla="val 5000"/>
            </a:avLst>
          </a:prstGeom>
          <a:solidFill>
            <a:srgbClr val="FFFFFF">
              <a:alpha val="6000"/>
            </a:srgbClr>
          </a:solidFill>
          <a:ln w="12700">
            <a:solidFill>
              <a:srgbClr val="F5F7FA">
                <a:alpha val="20000"/>
              </a:srgbClr>
            </a:solidFill>
          </a:ln>
        </p:spPr>
      </p:sp>
      <p:sp>
        <p:nvSpPr>
          <p:cNvPr id="6" name="num0"/>
          <p:cNvSpPr txBox="1"/>
          <p:nvPr/>
        </p:nvSpPr>
        <p:spPr>
          <a:xfrm>
            <a:off x="609600" y="1727200"/>
            <a:ext cx="3454400" cy="1079500"/>
          </a:xfrm>
          <a:prstGeom prst="rect">
            <a:avLst/>
          </a:prstGeom>
          <a:noFill/>
        </p:spPr>
        <p:txBody>
          <a:bodyPr wrap="none" lIns="0" tIns="0" rIns="0" bIns="0" anchor="t">
            <a:noAutofit/>
          </a:bodyPr>
          <a:lstStyle/>
          <a:p>
            <a:pPr algn="ctr">
              <a:lnSpc>
                <a:spcPct val="82645"/>
              </a:lnSpc>
              <a:spcBef>
                <a:spcPts val="0"/>
              </a:spcBef>
            </a:pPr>
            <a:r>
              <a:rPr lang="en-US" sz="7000" b="1" spc="-84" dirty="0">
                <a:solidFill>
                  <a:srgbClr val="F5F7FA"/>
                </a:solidFill>
                <a:latin typeface="Inter Display"/>
                <a:cs typeface="Inter Display"/>
              </a:rPr>
              <a:t>29/30</a:t>
            </a:r>
          </a:p>
        </p:txBody>
      </p:sp>
      <p:sp>
        <p:nvSpPr>
          <p:cNvPr id="7" name="lab0"/>
          <p:cNvSpPr txBox="1"/>
          <p:nvPr/>
        </p:nvSpPr>
        <p:spPr>
          <a:xfrm>
            <a:off x="609600" y="2870200"/>
            <a:ext cx="3454400" cy="698500"/>
          </a:xfrm>
          <a:prstGeom prst="rect">
            <a:avLst/>
          </a:prstGeom>
          <a:noFill/>
        </p:spPr>
        <p:txBody>
          <a:bodyPr wrap="none" lIns="0" tIns="0" rIns="0" bIns="0" anchor="t">
            <a:noAutofit/>
          </a:bodyPr>
          <a:lstStyle/>
          <a:p>
            <a:pPr algn="ctr">
              <a:lnSpc>
                <a:spcPct val="99174"/>
              </a:lnSpc>
              <a:spcBef>
                <a:spcPts val="0"/>
              </a:spcBef>
            </a:pPr>
            <a:r>
              <a:rPr lang="en-US" sz="2000" spc="-20" dirty="0">
                <a:solidFill>
                  <a:srgbClr val="F5F7FA"/>
                </a:solidFill>
                <a:latin typeface="Inter SemiBold"/>
                <a:cs typeface="Inter SemiBold"/>
              </a:rPr>
              <a:t>live requests</a:t>
            </a:r>
            <a:br>
              <a:rPr lang="en-US" sz="2000" spc="-20" dirty="0">
                <a:solidFill>
                  <a:srgbClr val="F5F7FA"/>
                </a:solidFill>
                <a:latin typeface="Inter SemiBold"/>
                <a:cs typeface="Inter SemiBold"/>
              </a:rPr>
            </a:br>
            <a:r>
              <a:rPr lang="en-US" sz="2000" spc="-20" dirty="0">
                <a:solidFill>
                  <a:srgbClr val="F5F7FA"/>
                </a:solidFill>
                <a:latin typeface="Inter SemiBold"/>
                <a:cs typeface="Inter SemiBold"/>
              </a:rPr>
              <a:t>triaged correctly</a:t>
            </a:r>
          </a:p>
        </p:txBody>
      </p:sp>
      <p:sp>
        <p:nvSpPr>
          <p:cNvPr id="8" name="sub0"/>
          <p:cNvSpPr txBox="1"/>
          <p:nvPr/>
        </p:nvSpPr>
        <p:spPr>
          <a:xfrm>
            <a:off x="609600" y="3733800"/>
            <a:ext cx="3454400" cy="292100"/>
          </a:xfrm>
          <a:prstGeom prst="rect">
            <a:avLst/>
          </a:prstGeom>
          <a:noFill/>
        </p:spPr>
        <p:txBody>
          <a:bodyPr wrap="none" lIns="0" tIns="0" rIns="0" bIns="0" anchor="t">
            <a:noAutofit/>
          </a:bodyPr>
          <a:lstStyle/>
          <a:p>
            <a:pPr algn="ctr">
              <a:lnSpc>
                <a:spcPct val="95041"/>
              </a:lnSpc>
              <a:spcBef>
                <a:spcPts val="0"/>
              </a:spcBef>
            </a:pPr>
            <a:r>
              <a:rPr lang="en-US" sz="1700" spc="-17" dirty="0">
                <a:solidFill>
                  <a:srgbClr val="F5F7FA">
                    <a:alpha val="85000"/>
                  </a:srgbClr>
                </a:solidFill>
                <a:latin typeface="Inter"/>
                <a:cs typeface="Inter"/>
              </a:rPr>
              <a:t>11 s average</a:t>
            </a:r>
          </a:p>
        </p:txBody>
      </p:sp>
      <p:sp>
        <p:nvSpPr>
          <p:cNvPr id="9" name="st1"/>
          <p:cNvSpPr/>
          <p:nvPr/>
        </p:nvSpPr>
        <p:spPr>
          <a:xfrm>
            <a:off x="4368800" y="1498600"/>
            <a:ext cx="3454400" cy="2794000"/>
          </a:xfrm>
          <a:prstGeom prst="roundRect">
            <a:avLst>
              <a:gd name="adj" fmla="val 5000"/>
            </a:avLst>
          </a:prstGeom>
          <a:solidFill>
            <a:srgbClr val="FFFFFF">
              <a:alpha val="6000"/>
            </a:srgbClr>
          </a:solidFill>
          <a:ln w="12700">
            <a:solidFill>
              <a:srgbClr val="F5F7FA">
                <a:alpha val="20000"/>
              </a:srgbClr>
            </a:solidFill>
          </a:ln>
        </p:spPr>
      </p:sp>
      <p:sp>
        <p:nvSpPr>
          <p:cNvPr id="10" name="num1"/>
          <p:cNvSpPr txBox="1"/>
          <p:nvPr/>
        </p:nvSpPr>
        <p:spPr>
          <a:xfrm>
            <a:off x="4368800" y="1727200"/>
            <a:ext cx="3454400" cy="1079500"/>
          </a:xfrm>
          <a:prstGeom prst="rect">
            <a:avLst/>
          </a:prstGeom>
          <a:noFill/>
        </p:spPr>
        <p:txBody>
          <a:bodyPr wrap="none" lIns="0" tIns="0" rIns="0" bIns="0" anchor="t">
            <a:noAutofit/>
          </a:bodyPr>
          <a:lstStyle/>
          <a:p>
            <a:pPr algn="ctr">
              <a:lnSpc>
                <a:spcPct val="82645"/>
              </a:lnSpc>
              <a:spcBef>
                <a:spcPts val="0"/>
              </a:spcBef>
            </a:pPr>
            <a:r>
              <a:rPr lang="en-US" sz="7000" b="1" spc="-84" dirty="0">
                <a:solidFill>
                  <a:srgbClr val="F5F7FA"/>
                </a:solidFill>
                <a:latin typeface="Inter Display"/>
                <a:cs typeface="Inter Display"/>
              </a:rPr>
              <a:t>42/42</a:t>
            </a:r>
          </a:p>
        </p:txBody>
      </p:sp>
      <p:sp>
        <p:nvSpPr>
          <p:cNvPr id="11" name="lab1"/>
          <p:cNvSpPr txBox="1"/>
          <p:nvPr/>
        </p:nvSpPr>
        <p:spPr>
          <a:xfrm>
            <a:off x="4368800" y="2870200"/>
            <a:ext cx="3454400" cy="698500"/>
          </a:xfrm>
          <a:prstGeom prst="rect">
            <a:avLst/>
          </a:prstGeom>
          <a:noFill/>
        </p:spPr>
        <p:txBody>
          <a:bodyPr wrap="none" lIns="0" tIns="0" rIns="0" bIns="0" anchor="t">
            <a:noAutofit/>
          </a:bodyPr>
          <a:lstStyle/>
          <a:p>
            <a:pPr algn="ctr">
              <a:lnSpc>
                <a:spcPct val="99174"/>
              </a:lnSpc>
              <a:spcBef>
                <a:spcPts val="0"/>
              </a:spcBef>
            </a:pPr>
            <a:r>
              <a:rPr lang="en-US" sz="2000" spc="-20" dirty="0">
                <a:solidFill>
                  <a:srgbClr val="F5F7FA"/>
                </a:solidFill>
                <a:latin typeface="Inter SemiBold"/>
                <a:cs typeface="Inter SemiBold"/>
              </a:rPr>
              <a:t>red-team attacks</a:t>
            </a:r>
            <a:br>
              <a:rPr lang="en-US" sz="2000" spc="-20" dirty="0">
                <a:solidFill>
                  <a:srgbClr val="F5F7FA"/>
                </a:solidFill>
                <a:latin typeface="Inter SemiBold"/>
                <a:cs typeface="Inter SemiBold"/>
              </a:rPr>
            </a:br>
            <a:r>
              <a:rPr lang="en-US" sz="2000" spc="-20" dirty="0">
                <a:solidFill>
                  <a:srgbClr val="F5F7FA"/>
                </a:solidFill>
                <a:latin typeface="Inter SemiBold"/>
                <a:cs typeface="Inter SemiBold"/>
              </a:rPr>
              <a:t>stopped</a:t>
            </a:r>
          </a:p>
        </p:txBody>
      </p:sp>
      <p:sp>
        <p:nvSpPr>
          <p:cNvPr id="12" name="sub1"/>
          <p:cNvSpPr txBox="1"/>
          <p:nvPr/>
        </p:nvSpPr>
        <p:spPr>
          <a:xfrm>
            <a:off x="4368800" y="3733800"/>
            <a:ext cx="3454400" cy="292100"/>
          </a:xfrm>
          <a:prstGeom prst="rect">
            <a:avLst/>
          </a:prstGeom>
          <a:noFill/>
        </p:spPr>
        <p:txBody>
          <a:bodyPr wrap="none" lIns="0" tIns="0" rIns="0" bIns="0" anchor="t">
            <a:noAutofit/>
          </a:bodyPr>
          <a:lstStyle/>
          <a:p>
            <a:pPr algn="ctr">
              <a:lnSpc>
                <a:spcPct val="95041"/>
              </a:lnSpc>
              <a:spcBef>
                <a:spcPts val="0"/>
              </a:spcBef>
            </a:pPr>
            <a:r>
              <a:rPr lang="en-US" sz="1700" spc="-17" dirty="0">
                <a:solidFill>
                  <a:srgbClr val="F5F7FA">
                    <a:alpha val="85000"/>
                  </a:srgbClr>
                </a:solidFill>
                <a:latin typeface="Inter"/>
                <a:cs typeface="Inter"/>
              </a:rPr>
              <a:t>offline attack set</a:t>
            </a:r>
          </a:p>
        </p:txBody>
      </p:sp>
      <p:sp>
        <p:nvSpPr>
          <p:cNvPr id="13" name="st2"/>
          <p:cNvSpPr/>
          <p:nvPr/>
        </p:nvSpPr>
        <p:spPr>
          <a:xfrm>
            <a:off x="8128000" y="1498600"/>
            <a:ext cx="3454400" cy="2794000"/>
          </a:xfrm>
          <a:prstGeom prst="roundRect">
            <a:avLst>
              <a:gd name="adj" fmla="val 5000"/>
            </a:avLst>
          </a:prstGeom>
          <a:solidFill>
            <a:srgbClr val="FFFFFF">
              <a:alpha val="6000"/>
            </a:srgbClr>
          </a:solidFill>
          <a:ln w="19050">
            <a:solidFill>
              <a:srgbClr val="FFB224">
                <a:alpha val="85000"/>
              </a:srgbClr>
            </a:solidFill>
          </a:ln>
        </p:spPr>
      </p:sp>
      <p:sp>
        <p:nvSpPr>
          <p:cNvPr id="14" name="num2"/>
          <p:cNvSpPr txBox="1"/>
          <p:nvPr/>
        </p:nvSpPr>
        <p:spPr>
          <a:xfrm>
            <a:off x="8128000" y="1727200"/>
            <a:ext cx="3454400" cy="1079500"/>
          </a:xfrm>
          <a:prstGeom prst="rect">
            <a:avLst/>
          </a:prstGeom>
          <a:noFill/>
        </p:spPr>
        <p:txBody>
          <a:bodyPr wrap="none" lIns="0" tIns="0" rIns="0" bIns="0" anchor="t">
            <a:noAutofit/>
          </a:bodyPr>
          <a:lstStyle/>
          <a:p>
            <a:pPr algn="ctr">
              <a:lnSpc>
                <a:spcPct val="82645"/>
              </a:lnSpc>
              <a:spcBef>
                <a:spcPts val="0"/>
              </a:spcBef>
            </a:pPr>
            <a:r>
              <a:rPr lang="en-US" sz="7000" b="1" spc="-84" dirty="0">
                <a:solidFill>
                  <a:srgbClr val="FFB224"/>
                </a:solidFill>
                <a:latin typeface="Inter Display"/>
                <a:cs typeface="Inter Display"/>
              </a:rPr>
              <a:t>94/100</a:t>
            </a:r>
          </a:p>
        </p:txBody>
      </p:sp>
      <p:sp>
        <p:nvSpPr>
          <p:cNvPr id="15" name="lab2"/>
          <p:cNvSpPr txBox="1"/>
          <p:nvPr/>
        </p:nvSpPr>
        <p:spPr>
          <a:xfrm>
            <a:off x="8128000" y="2870200"/>
            <a:ext cx="3454400" cy="698500"/>
          </a:xfrm>
          <a:prstGeom prst="rect">
            <a:avLst/>
          </a:prstGeom>
          <a:noFill/>
        </p:spPr>
        <p:txBody>
          <a:bodyPr wrap="none" lIns="0" tIns="0" rIns="0" bIns="0" anchor="t">
            <a:noAutofit/>
          </a:bodyPr>
          <a:lstStyle/>
          <a:p>
            <a:pPr algn="ctr">
              <a:lnSpc>
                <a:spcPct val="99174"/>
              </a:lnSpc>
              <a:spcBef>
                <a:spcPts val="0"/>
              </a:spcBef>
            </a:pPr>
            <a:r>
              <a:rPr lang="en-US" sz="2000" spc="-20" dirty="0">
                <a:solidFill>
                  <a:srgbClr val="F5F7FA"/>
                </a:solidFill>
                <a:latin typeface="Inter SemiBold"/>
                <a:cs typeface="Inter SemiBold"/>
              </a:rPr>
              <a:t>safe recommendations on</a:t>
            </a:r>
            <a:br>
              <a:rPr lang="en-US" sz="2000" spc="-20" dirty="0">
                <a:solidFill>
                  <a:srgbClr val="F5F7FA"/>
                </a:solidFill>
                <a:latin typeface="Inter SemiBold"/>
                <a:cs typeface="Inter SemiBold"/>
              </a:rPr>
            </a:br>
            <a:r>
              <a:rPr lang="en-US" sz="2000" spc="-20" dirty="0">
                <a:solidFill>
                  <a:srgbClr val="F5F7FA"/>
                </a:solidFill>
                <a:latin typeface="Inter SemiBold"/>
                <a:cs typeface="Inter SemiBold"/>
              </a:rPr>
              <a:t>never-seen blind requests</a:t>
            </a:r>
          </a:p>
        </p:txBody>
      </p:sp>
      <p:sp>
        <p:nvSpPr>
          <p:cNvPr id="16" name="sub2"/>
          <p:cNvSpPr txBox="1"/>
          <p:nvPr/>
        </p:nvSpPr>
        <p:spPr>
          <a:xfrm>
            <a:off x="8128000" y="3733800"/>
            <a:ext cx="3454400" cy="292100"/>
          </a:xfrm>
          <a:prstGeom prst="rect">
            <a:avLst/>
          </a:prstGeom>
          <a:noFill/>
        </p:spPr>
        <p:txBody>
          <a:bodyPr wrap="none" lIns="0" tIns="0" rIns="0" bIns="0" anchor="t">
            <a:noAutofit/>
          </a:bodyPr>
          <a:lstStyle/>
          <a:p>
            <a:pPr algn="ctr">
              <a:lnSpc>
                <a:spcPct val="95041"/>
              </a:lnSpc>
              <a:spcBef>
                <a:spcPts val="0"/>
              </a:spcBef>
            </a:pPr>
            <a:r>
              <a:rPr lang="en-US" sz="1700" spc="-17" dirty="0">
                <a:solidFill>
                  <a:srgbClr val="F5F7FA">
                    <a:alpha val="85000"/>
                  </a:srgbClr>
                </a:solidFill>
                <a:latin typeface="Inter"/>
                <a:cs typeface="Inter"/>
              </a:rPr>
              <a:t>run once, live</a:t>
            </a:r>
          </a:p>
        </p:txBody>
      </p:sp>
      <p:sp>
        <p:nvSpPr>
          <p:cNvPr id="17" name="take_bg"/>
          <p:cNvSpPr/>
          <p:nvPr/>
        </p:nvSpPr>
        <p:spPr>
          <a:xfrm>
            <a:off x="609600" y="4572000"/>
            <a:ext cx="10972800" cy="952500"/>
          </a:xfrm>
          <a:prstGeom prst="roundRect">
            <a:avLst>
              <a:gd name="adj" fmla="val 12000"/>
            </a:avLst>
          </a:prstGeom>
          <a:solidFill>
            <a:srgbClr val="FFB224">
              <a:alpha val="10000"/>
            </a:srgbClr>
          </a:solidFill>
          <a:ln w="12700">
            <a:solidFill>
              <a:srgbClr val="FFB224">
                <a:alpha val="80000"/>
              </a:srgbClr>
            </a:solidFill>
          </a:ln>
        </p:spPr>
      </p:sp>
      <p:sp>
        <p:nvSpPr>
          <p:cNvPr id="18" name="take"/>
          <p:cNvSpPr txBox="1"/>
          <p:nvPr/>
        </p:nvSpPr>
        <p:spPr>
          <a:xfrm>
            <a:off x="914400" y="4749800"/>
            <a:ext cx="10414000" cy="698500"/>
          </a:xfrm>
          <a:prstGeom prst="rect">
            <a:avLst/>
          </a:prstGeom>
          <a:noFill/>
        </p:spPr>
        <p:txBody>
          <a:bodyPr wrap="none" lIns="0" tIns="0" rIns="0" bIns="0" anchor="t">
            <a:noAutofit/>
          </a:bodyPr>
          <a:lstStyle/>
          <a:p>
            <a:pPr algn="l">
              <a:lnSpc>
                <a:spcPct val="95041"/>
              </a:lnSpc>
              <a:spcBef>
                <a:spcPts val="0"/>
              </a:spcBef>
            </a:pPr>
            <a:r>
              <a:rPr lang="en-US" sz="2000" b="1" spc="-20" dirty="0">
                <a:solidFill>
                  <a:srgbClr val="F5F7FA"/>
                </a:solidFill>
                <a:latin typeface="Inter"/>
                <a:cs typeface="Inter"/>
              </a:rPr>
              <a:t>When unsure, the agents ask again instead of guessing —</a:t>
            </a:r>
          </a:p>
          <a:p>
            <a:pPr algn="l">
              <a:lnSpc>
                <a:spcPct val="95041"/>
              </a:lnSpc>
              <a:spcBef>
                <a:spcPts val="450"/>
              </a:spcBef>
            </a:pPr>
            <a:r>
              <a:rPr lang="en-US" sz="2000" b="1" spc="-20" dirty="0">
                <a:solidFill>
                  <a:srgbClr val="FFB224"/>
                </a:solidFill>
                <a:latin typeface="Inter"/>
                <a:cs typeface="Inter"/>
              </a:rPr>
              <a:t>and no boat moves without a human.</a:t>
            </a:r>
          </a:p>
        </p:txBody>
      </p:sp>
      <p:sp>
        <p:nvSpPr>
          <p:cNvPr id="19" name="foot9"/>
          <p:cNvSpPr txBox="1"/>
          <p:nvPr/>
        </p:nvSpPr>
        <p:spPr>
          <a:xfrm>
            <a:off x="609600" y="5715000"/>
            <a:ext cx="10972800" cy="635000"/>
          </a:xfrm>
          <a:prstGeom prst="rect">
            <a:avLst/>
          </a:prstGeom>
          <a:noFill/>
        </p:spPr>
        <p:txBody>
          <a:bodyPr wrap="none" lIns="0" tIns="0" rIns="0" bIns="0" anchor="t">
            <a:noAutofit/>
          </a:bodyPr>
          <a:lstStyle/>
          <a:p>
            <a:pPr algn="l">
              <a:lnSpc>
                <a:spcPct val="95041"/>
              </a:lnSpc>
              <a:spcBef>
                <a:spcPts val="0"/>
              </a:spcBef>
            </a:pPr>
            <a:r>
              <a:rPr lang="en-US" sz="1200" spc="0" dirty="0">
                <a:solidFill>
                  <a:srgbClr val="F5F7FA">
                    <a:alpha val="90000"/>
                  </a:srgbClr>
                </a:solidFill>
                <a:latin typeface="Inter"/>
                <a:cs typeface="Inter"/>
              </a:rPr>
              <a:t>Blind sets (never seen, run once live, commit 6ba4233): set A 34/50 correct, set B 29/50 correct, 3 unsafe sends each = 94 of 100 safe.</a:t>
            </a:r>
          </a:p>
          <a:p>
            <a:pPr algn="l">
              <a:lnSpc>
                <a:spcPct val="95041"/>
              </a:lnSpc>
              <a:spcBef>
                <a:spcPts val="450"/>
              </a:spcBef>
            </a:pPr>
            <a:r>
              <a:rPr lang="en-US" sz="1200" spc="0" dirty="0">
                <a:solidFill>
                  <a:srgbClr val="F5F7FA">
                    <a:alpha val="90000"/>
                  </a:srgbClr>
                </a:solidFill>
                <a:latin typeface="Inter"/>
                <a:cs typeface="Inter"/>
              </a:rPr>
              <a:t>Dev set is ours: 29/30 live, was 19/30; mean 11.3 s, was 46.7 s. Red team 42/42 offline. The blind gap is our next work.</a:t>
            </a:r>
          </a:p>
        </p:txBody>
      </p:sp>
      <p:sp>
        <p:nvSpPr>
          <p:cNvPr id="20"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Live and offline runs, 27 Oct 2026 · details in the README evaluation table</a:t>
            </a:r>
          </a:p>
        </p:txBody>
      </p:sp>
      <p:sp>
        <p:nvSpPr>
          <p:cNvPr id="21"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457200"/>
            <a:ext cx="10972800" cy="565150"/>
          </a:xfrm>
          <a:prstGeom prst="rect">
            <a:avLst/>
          </a:prstGeom>
          <a:noFill/>
        </p:spPr>
        <p:txBody>
          <a:bodyPr wrap="none" lIns="0" tIns="0" rIns="0" bIns="0" anchor="t">
            <a:noAutofit/>
          </a:bodyPr>
          <a:lstStyle/>
          <a:p>
            <a:pPr algn="l">
              <a:lnSpc>
                <a:spcPct val="87603"/>
              </a:lnSpc>
              <a:spcBef>
                <a:spcPts val="0"/>
              </a:spcBef>
            </a:pPr>
            <a:r>
              <a:rPr lang="en-US" sz="3600" b="1" spc="-43" dirty="0">
                <a:solidFill>
                  <a:srgbClr val="F5F7FA"/>
                </a:solidFill>
                <a:latin typeface="Inter Display"/>
                <a:cs typeface="Inter Display"/>
              </a:rPr>
              <a:t>Built on three sponsor technologies.</a:t>
            </a:r>
          </a:p>
        </p:txBody>
      </p:sp>
      <p:sp>
        <p:nvSpPr>
          <p:cNvPr id="5" name="hook"/>
          <p:cNvSpPr txBox="1"/>
          <p:nvPr/>
        </p:nvSpPr>
        <p:spPr>
          <a:xfrm>
            <a:off x="609600" y="1092200"/>
            <a:ext cx="10972800" cy="6985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FB224"/>
                </a:solidFill>
                <a:latin typeface="Inter"/>
                <a:cs typeface="Inter"/>
              </a:rPr>
              <a:t>Zetaris knows the ground · Nemotron reads and reasons · Nightshift makes every call accountable ·</a:t>
            </a:r>
          </a:p>
          <a:p>
            <a:pPr algn="l">
              <a:lnSpc>
                <a:spcPct val="95041"/>
              </a:lnSpc>
              <a:spcBef>
                <a:spcPts val="450"/>
              </a:spcBef>
            </a:pPr>
            <a:r>
              <a:rPr lang="en-US" sz="1700" b="1" spc="-17" dirty="0">
                <a:solidFill>
                  <a:srgbClr val="FFB224"/>
                </a:solidFill>
                <a:latin typeface="Inter"/>
                <a:cs typeface="Inter"/>
              </a:rPr>
              <a:t>the World Model makes “no boat without a human” a rule</a:t>
            </a:r>
          </a:p>
        </p:txBody>
      </p:sp>
      <p:sp>
        <p:nvSpPr>
          <p:cNvPr id="6" name="tile_nvidia"/>
          <p:cNvSpPr/>
          <p:nvPr/>
        </p:nvSpPr>
        <p:spPr>
          <a:xfrm>
            <a:off x="609600" y="1905000"/>
            <a:ext cx="3454400" cy="2794000"/>
          </a:xfrm>
          <a:prstGeom prst="roundRect">
            <a:avLst>
              <a:gd name="adj" fmla="val 5000"/>
            </a:avLst>
          </a:prstGeom>
          <a:solidFill>
            <a:srgbClr val="FFFFFF">
              <a:alpha val="6000"/>
            </a:srgbClr>
          </a:solidFill>
          <a:ln w="12700">
            <a:solidFill>
              <a:srgbClr val="F5F7FA">
                <a:alpha val="22000"/>
              </a:srgbClr>
            </a:solidFill>
          </a:ln>
        </p:spPr>
      </p:sp>
      <p:pic>
        <p:nvPicPr>
          <p:cNvPr id="7" name="logo_nvidia"/>
          <p:cNvPicPr>
            <a:picLocks noChangeAspect="1"/>
          </p:cNvPicPr>
          <p:nvPr/>
        </p:nvPicPr>
        <p:blipFill>
          <a:blip r:embed="rId2"/>
          <a:srcRect l="0" t="0" r="0" b="216"/>
          <a:stretch>
            <a:fillRect/>
          </a:stretch>
        </p:blipFill>
        <p:spPr>
          <a:xfrm>
            <a:off x="1720850" y="2108200"/>
            <a:ext cx="1231900" cy="952500"/>
          </a:xfrm>
          <a:prstGeom prst="rect">
            <a:avLst/>
          </a:prstGeom>
        </p:spPr>
      </p:pic>
      <p:sp>
        <p:nvSpPr>
          <p:cNvPr id="8" name="rule_nvidia"/>
          <p:cNvSpPr/>
          <p:nvPr/>
        </p:nvSpPr>
        <p:spPr>
          <a:xfrm>
            <a:off x="914400" y="3213100"/>
            <a:ext cx="2844800" cy="12700"/>
          </a:xfrm>
          <a:prstGeom prst="rect">
            <a:avLst/>
          </a:prstGeom>
          <a:solidFill>
            <a:srgbClr val="F5F7FA">
              <a:alpha val="18000"/>
            </a:srgbClr>
          </a:solidFill>
          <a:ln>
            <a:noFill/>
          </a:ln>
        </p:spPr>
      </p:sp>
      <p:sp>
        <p:nvSpPr>
          <p:cNvPr id="9" name="name_nvidia"/>
          <p:cNvSpPr txBox="1"/>
          <p:nvPr/>
        </p:nvSpPr>
        <p:spPr>
          <a:xfrm>
            <a:off x="609600" y="3352800"/>
            <a:ext cx="3454400" cy="317500"/>
          </a:xfrm>
          <a:prstGeom prst="rect">
            <a:avLst/>
          </a:prstGeom>
          <a:noFill/>
        </p:spPr>
        <p:txBody>
          <a:bodyPr wrap="none" lIns="0" tIns="0" rIns="0" bIns="0" anchor="t">
            <a:noAutofit/>
          </a:bodyPr>
          <a:lstStyle/>
          <a:p>
            <a:pPr algn="ctr">
              <a:lnSpc>
                <a:spcPct val="95041"/>
              </a:lnSpc>
              <a:spcBef>
                <a:spcPts val="0"/>
              </a:spcBef>
            </a:pPr>
            <a:r>
              <a:rPr lang="en-US" sz="1700" b="1" spc="-17" dirty="0">
                <a:solidFill>
                  <a:srgbClr val="F5F7FA"/>
                </a:solidFill>
                <a:latin typeface="Inter"/>
                <a:cs typeface="Inter"/>
              </a:rPr>
              <a:t>NVIDIA Nemotron</a:t>
            </a:r>
          </a:p>
        </p:txBody>
      </p:sp>
      <p:sp>
        <p:nvSpPr>
          <p:cNvPr id="10" name="line_nvidia"/>
          <p:cNvSpPr txBox="1"/>
          <p:nvPr/>
        </p:nvSpPr>
        <p:spPr>
          <a:xfrm>
            <a:off x="609600" y="3746500"/>
            <a:ext cx="3454400" cy="571500"/>
          </a:xfrm>
          <a:prstGeom prst="rect">
            <a:avLst/>
          </a:prstGeom>
          <a:noFill/>
        </p:spPr>
        <p:txBody>
          <a:bodyPr wrap="none" lIns="0" tIns="0" rIns="0" bIns="0" anchor="t">
            <a:noAutofit/>
          </a:bodyPr>
          <a:lstStyle/>
          <a:p>
            <a:pPr algn="ctr">
              <a:lnSpc>
                <a:spcPct val="103306"/>
              </a:lnSpc>
              <a:spcBef>
                <a:spcPts val="0"/>
              </a:spcBef>
            </a:pPr>
            <a:r>
              <a:rPr lang="en-US" sz="1600" spc="0" dirty="0">
                <a:solidFill>
                  <a:srgbClr val="F5F7FA">
                    <a:alpha val="90000"/>
                  </a:srgbClr>
                </a:solidFill>
                <a:latin typeface="Inter"/>
                <a:cs typeface="Inter"/>
              </a:rPr>
              <a:t>The model behind every</a:t>
            </a:r>
            <a:br>
              <a:rPr lang="en-US" sz="1600" spc="0" dirty="0">
                <a:solidFill>
                  <a:srgbClr val="F5F7FA">
                    <a:alpha val="90000"/>
                  </a:srgbClr>
                </a:solidFill>
                <a:latin typeface="Inter"/>
                <a:cs typeface="Inter"/>
              </a:rPr>
            </a:br>
            <a:r>
              <a:rPr lang="en-US" sz="1600" spc="0" dirty="0">
                <a:solidFill>
                  <a:srgbClr val="F5F7FA">
                    <a:alpha val="90000"/>
                  </a:srgbClr>
                </a:solidFill>
                <a:latin typeface="Inter"/>
                <a:cs typeface="Inter"/>
              </a:rPr>
              <a:t>agent decision</a:t>
            </a:r>
          </a:p>
        </p:txBody>
      </p:sp>
      <p:sp>
        <p:nvSpPr>
          <p:cNvPr id="11" name="tile_meterless"/>
          <p:cNvSpPr/>
          <p:nvPr/>
        </p:nvSpPr>
        <p:spPr>
          <a:xfrm>
            <a:off x="4368800" y="1905000"/>
            <a:ext cx="3454400" cy="2794000"/>
          </a:xfrm>
          <a:prstGeom prst="roundRect">
            <a:avLst>
              <a:gd name="adj" fmla="val 5000"/>
            </a:avLst>
          </a:prstGeom>
          <a:solidFill>
            <a:srgbClr val="FFFFFF">
              <a:alpha val="6000"/>
            </a:srgbClr>
          </a:solidFill>
          <a:ln w="12700">
            <a:solidFill>
              <a:srgbClr val="F5F7FA">
                <a:alpha val="22000"/>
              </a:srgbClr>
            </a:solidFill>
          </a:ln>
        </p:spPr>
      </p:sp>
      <p:sp>
        <p:nvSpPr>
          <p:cNvPr id="12" name="logo_meterless"/>
          <p:cNvSpPr txBox="1"/>
          <p:nvPr/>
        </p:nvSpPr>
        <p:spPr>
          <a:xfrm>
            <a:off x="4368800" y="2425700"/>
            <a:ext cx="3454400" cy="508000"/>
          </a:xfrm>
          <a:prstGeom prst="rect">
            <a:avLst/>
          </a:prstGeom>
          <a:noFill/>
        </p:spPr>
        <p:txBody>
          <a:bodyPr wrap="none" lIns="0" tIns="0" rIns="0" bIns="0" anchor="t">
            <a:noAutofit/>
          </a:bodyPr>
          <a:lstStyle/>
          <a:p>
            <a:pPr algn="ctr">
              <a:lnSpc>
                <a:spcPct val="95041"/>
              </a:lnSpc>
              <a:spcBef>
                <a:spcPts val="0"/>
              </a:spcBef>
            </a:pPr>
            <a:r>
              <a:rPr lang="en-US" sz="3100" b="1" spc="-37" dirty="0">
                <a:solidFill>
                  <a:srgbClr val="F5F7FA"/>
                </a:solidFill>
                <a:latin typeface="Inter Display"/>
                <a:cs typeface="Inter Display"/>
              </a:rPr>
              <a:t>METERLESS</a:t>
            </a:r>
          </a:p>
        </p:txBody>
      </p:sp>
      <p:sp>
        <p:nvSpPr>
          <p:cNvPr id="13" name="rule_meterless"/>
          <p:cNvSpPr/>
          <p:nvPr/>
        </p:nvSpPr>
        <p:spPr>
          <a:xfrm>
            <a:off x="4673600" y="3213100"/>
            <a:ext cx="2844800" cy="12700"/>
          </a:xfrm>
          <a:prstGeom prst="rect">
            <a:avLst/>
          </a:prstGeom>
          <a:solidFill>
            <a:srgbClr val="F5F7FA">
              <a:alpha val="18000"/>
            </a:srgbClr>
          </a:solidFill>
          <a:ln>
            <a:noFill/>
          </a:ln>
        </p:spPr>
      </p:sp>
      <p:sp>
        <p:nvSpPr>
          <p:cNvPr id="14" name="name_meterless"/>
          <p:cNvSpPr txBox="1"/>
          <p:nvPr/>
        </p:nvSpPr>
        <p:spPr>
          <a:xfrm>
            <a:off x="4368800" y="3352800"/>
            <a:ext cx="3454400" cy="571500"/>
          </a:xfrm>
          <a:prstGeom prst="rect">
            <a:avLst/>
          </a:prstGeom>
          <a:noFill/>
        </p:spPr>
        <p:txBody>
          <a:bodyPr wrap="none" lIns="0" tIns="0" rIns="0" bIns="0" anchor="t">
            <a:noAutofit/>
          </a:bodyPr>
          <a:lstStyle/>
          <a:p>
            <a:pPr algn="ctr">
              <a:lnSpc>
                <a:spcPct val="95041"/>
              </a:lnSpc>
              <a:spcBef>
                <a:spcPts val="0"/>
              </a:spcBef>
            </a:pPr>
            <a:r>
              <a:rPr lang="en-US" sz="1700" b="1" spc="-17" dirty="0">
                <a:solidFill>
                  <a:srgbClr val="F5F7FA"/>
                </a:solidFill>
                <a:latin typeface="Inter"/>
                <a:cs typeface="Inter"/>
              </a:rPr>
              <a:t>Meterless Nightshift</a:t>
            </a:r>
            <a:br>
              <a:rPr lang="en-US" sz="1700" b="1" spc="-17" dirty="0">
                <a:solidFill>
                  <a:srgbClr val="F5F7FA"/>
                </a:solidFill>
                <a:latin typeface="Inter"/>
                <a:cs typeface="Inter"/>
              </a:rPr>
            </a:br>
            <a:r>
              <a:rPr lang="en-US" sz="1700" b="1" spc="-17" dirty="0">
                <a:solidFill>
                  <a:srgbClr val="F5F7FA"/>
                </a:solidFill>
                <a:latin typeface="Inter"/>
                <a:cs typeface="Inter"/>
              </a:rPr>
              <a:t>+ World Model</a:t>
            </a:r>
          </a:p>
        </p:txBody>
      </p:sp>
      <p:sp>
        <p:nvSpPr>
          <p:cNvPr id="15" name="line_meterless"/>
          <p:cNvSpPr txBox="1"/>
          <p:nvPr/>
        </p:nvSpPr>
        <p:spPr>
          <a:xfrm>
            <a:off x="4368800" y="4000500"/>
            <a:ext cx="3454400" cy="571500"/>
          </a:xfrm>
          <a:prstGeom prst="rect">
            <a:avLst/>
          </a:prstGeom>
          <a:noFill/>
        </p:spPr>
        <p:txBody>
          <a:bodyPr wrap="none" lIns="0" tIns="0" rIns="0" bIns="0" anchor="t">
            <a:noAutofit/>
          </a:bodyPr>
          <a:lstStyle/>
          <a:p>
            <a:pPr algn="ctr">
              <a:lnSpc>
                <a:spcPct val="103306"/>
              </a:lnSpc>
              <a:spcBef>
                <a:spcPts val="0"/>
              </a:spcBef>
            </a:pPr>
            <a:r>
              <a:rPr lang="en-US" sz="1600" spc="0" dirty="0">
                <a:solidFill>
                  <a:srgbClr val="F5F7FA">
                    <a:alpha val="90000"/>
                  </a:srgbClr>
                </a:solidFill>
                <a:latin typeface="Inter"/>
                <a:cs typeface="Inter"/>
              </a:rPr>
              <a:t>One gateway for every call;</a:t>
            </a:r>
            <a:br>
              <a:rPr lang="en-US" sz="1600" spc="0" dirty="0">
                <a:solidFill>
                  <a:srgbClr val="F5F7FA">
                    <a:alpha val="90000"/>
                  </a:srgbClr>
                </a:solidFill>
                <a:latin typeface="Inter"/>
                <a:cs typeface="Inter"/>
              </a:rPr>
            </a:br>
            <a:r>
              <a:rPr lang="en-US" sz="1600" spc="0" dirty="0">
                <a:solidFill>
                  <a:srgbClr val="F5F7FA">
                    <a:alpha val="90000"/>
                  </a:srgbClr>
                </a:solidFill>
                <a:latin typeface="Inter"/>
                <a:cs typeface="Inter"/>
              </a:rPr>
              <a:t>one shared event log</a:t>
            </a:r>
          </a:p>
        </p:txBody>
      </p:sp>
      <p:sp>
        <p:nvSpPr>
          <p:cNvPr id="16" name="tile_zetaris"/>
          <p:cNvSpPr/>
          <p:nvPr/>
        </p:nvSpPr>
        <p:spPr>
          <a:xfrm>
            <a:off x="8128000" y="1905000"/>
            <a:ext cx="3454400" cy="2794000"/>
          </a:xfrm>
          <a:prstGeom prst="roundRect">
            <a:avLst>
              <a:gd name="adj" fmla="val 5000"/>
            </a:avLst>
          </a:prstGeom>
          <a:solidFill>
            <a:srgbClr val="FFFFFF">
              <a:alpha val="6000"/>
            </a:srgbClr>
          </a:solidFill>
          <a:ln w="12700">
            <a:solidFill>
              <a:srgbClr val="F5F7FA">
                <a:alpha val="22000"/>
              </a:srgbClr>
            </a:solidFill>
          </a:ln>
        </p:spPr>
      </p:sp>
      <p:pic>
        <p:nvPicPr>
          <p:cNvPr id="17" name="logo_zetaris"/>
          <p:cNvPicPr>
            <a:picLocks noChangeAspect="1"/>
          </p:cNvPicPr>
          <p:nvPr/>
        </p:nvPicPr>
        <p:blipFill>
          <a:blip r:embed="rId3"/>
          <a:srcRect l="0" t="0" r="0" b="118"/>
          <a:stretch>
            <a:fillRect/>
          </a:stretch>
        </p:blipFill>
        <p:spPr>
          <a:xfrm>
            <a:off x="8648700" y="2387600"/>
            <a:ext cx="2413000" cy="393700"/>
          </a:xfrm>
          <a:prstGeom prst="rect">
            <a:avLst/>
          </a:prstGeom>
        </p:spPr>
      </p:pic>
      <p:sp>
        <p:nvSpPr>
          <p:cNvPr id="18" name="rule_zetaris"/>
          <p:cNvSpPr/>
          <p:nvPr/>
        </p:nvSpPr>
        <p:spPr>
          <a:xfrm>
            <a:off x="8432800" y="3213100"/>
            <a:ext cx="2844800" cy="12700"/>
          </a:xfrm>
          <a:prstGeom prst="rect">
            <a:avLst/>
          </a:prstGeom>
          <a:solidFill>
            <a:srgbClr val="F5F7FA">
              <a:alpha val="18000"/>
            </a:srgbClr>
          </a:solidFill>
          <a:ln>
            <a:noFill/>
          </a:ln>
        </p:spPr>
      </p:sp>
      <p:sp>
        <p:nvSpPr>
          <p:cNvPr id="19" name="name_zetaris"/>
          <p:cNvSpPr txBox="1"/>
          <p:nvPr/>
        </p:nvSpPr>
        <p:spPr>
          <a:xfrm>
            <a:off x="8128000" y="3352800"/>
            <a:ext cx="3454400" cy="317500"/>
          </a:xfrm>
          <a:prstGeom prst="rect">
            <a:avLst/>
          </a:prstGeom>
          <a:noFill/>
        </p:spPr>
        <p:txBody>
          <a:bodyPr wrap="none" lIns="0" tIns="0" rIns="0" bIns="0" anchor="t">
            <a:noAutofit/>
          </a:bodyPr>
          <a:lstStyle/>
          <a:p>
            <a:pPr algn="ctr">
              <a:lnSpc>
                <a:spcPct val="95041"/>
              </a:lnSpc>
              <a:spcBef>
                <a:spcPts val="0"/>
              </a:spcBef>
            </a:pPr>
            <a:r>
              <a:rPr lang="en-US" sz="1700" b="1" spc="-17" dirty="0">
                <a:solidFill>
                  <a:srgbClr val="F5F7FA"/>
                </a:solidFill>
                <a:latin typeface="Inter"/>
                <a:cs typeface="Inter"/>
              </a:rPr>
              <a:t>Zetaris</a:t>
            </a:r>
          </a:p>
        </p:txBody>
      </p:sp>
      <p:sp>
        <p:nvSpPr>
          <p:cNvPr id="20" name="line_zetaris"/>
          <p:cNvSpPr txBox="1"/>
          <p:nvPr/>
        </p:nvSpPr>
        <p:spPr>
          <a:xfrm>
            <a:off x="8128000" y="3746500"/>
            <a:ext cx="3454400" cy="571500"/>
          </a:xfrm>
          <a:prstGeom prst="rect">
            <a:avLst/>
          </a:prstGeom>
          <a:noFill/>
        </p:spPr>
        <p:txBody>
          <a:bodyPr wrap="none" lIns="0" tIns="0" rIns="0" bIns="0" anchor="t">
            <a:noAutofit/>
          </a:bodyPr>
          <a:lstStyle/>
          <a:p>
            <a:pPr algn="ctr">
              <a:lnSpc>
                <a:spcPct val="103306"/>
              </a:lnSpc>
              <a:spcBef>
                <a:spcPts val="0"/>
              </a:spcBef>
            </a:pPr>
            <a:r>
              <a:rPr lang="en-US" sz="1600" spc="0" dirty="0">
                <a:solidFill>
                  <a:srgbClr val="F5F7FA">
                    <a:alpha val="90000"/>
                  </a:srgbClr>
                </a:solidFill>
                <a:latin typeface="Inter"/>
                <a:cs typeface="Inter"/>
              </a:rPr>
              <a:t>Streets, landmarks and</a:t>
            </a:r>
            <a:br>
              <a:rPr lang="en-US" sz="1600" spc="0" dirty="0">
                <a:solidFill>
                  <a:srgbClr val="F5F7FA">
                    <a:alpha val="90000"/>
                  </a:srgbClr>
                </a:solidFill>
                <a:latin typeface="Inter"/>
                <a:cs typeface="Inter"/>
              </a:rPr>
            </a:br>
            <a:r>
              <a:rPr lang="en-US" sz="1600" spc="0" dirty="0">
                <a:solidFill>
                  <a:srgbClr val="F5F7FA">
                    <a:alpha val="90000"/>
                  </a:srgbClr>
                </a:solidFill>
                <a:latin typeface="Inter"/>
                <a:cs typeface="Inter"/>
              </a:rPr>
              <a:t>flood data in one query</a:t>
            </a:r>
          </a:p>
        </p:txBody>
      </p:sp>
      <p:sp>
        <p:nvSpPr>
          <p:cNvPr id="21" name="st_0"/>
          <p:cNvSpPr/>
          <p:nvPr/>
        </p:nvSpPr>
        <p:spPr>
          <a:xfrm>
            <a:off x="609600" y="5372100"/>
            <a:ext cx="1930400" cy="762000"/>
          </a:xfrm>
          <a:prstGeom prst="roundRect">
            <a:avLst>
              <a:gd name="adj" fmla="val 11667"/>
            </a:avLst>
          </a:prstGeom>
          <a:solidFill>
            <a:srgbClr val="F5F7FA">
              <a:alpha val="12000"/>
            </a:srgbClr>
          </a:solidFill>
          <a:ln w="12700">
            <a:solidFill>
              <a:srgbClr val="F5F7FA">
                <a:alpha val="85000"/>
              </a:srgbClr>
            </a:solidFill>
          </a:ln>
        </p:spPr>
      </p:sp>
      <p:sp>
        <p:nvSpPr>
          <p:cNvPr id="22" name="st_t0"/>
          <p:cNvSpPr txBox="1"/>
          <p:nvPr/>
        </p:nvSpPr>
        <p:spPr>
          <a:xfrm>
            <a:off x="609600" y="5638800"/>
            <a:ext cx="1930400" cy="241300"/>
          </a:xfrm>
          <a:prstGeom prst="rect">
            <a:avLst/>
          </a:prstGeom>
          <a:noFill/>
        </p:spPr>
        <p:txBody>
          <a:bodyPr wrap="none" lIns="0" tIns="0" rIns="0" bIns="0" anchor="t">
            <a:noAutofit/>
          </a:bodyPr>
          <a:lstStyle/>
          <a:p>
            <a:pPr algn="ctr">
              <a:lnSpc>
                <a:spcPct val="99174"/>
              </a:lnSpc>
              <a:spcBef>
                <a:spcPts val="0"/>
              </a:spcBef>
            </a:pPr>
            <a:r>
              <a:rPr lang="en-US" sz="1500" spc="0" dirty="0">
                <a:solidFill>
                  <a:srgbClr val="F5F7FA"/>
                </a:solidFill>
                <a:latin typeface="Inter SemiBold"/>
                <a:cs typeface="Inter SemiBold"/>
              </a:rPr>
              <a:t>Message</a:t>
            </a:r>
          </a:p>
        </p:txBody>
      </p:sp>
      <p:sp>
        <p:nvSpPr>
          <p:cNvPr id="23" name="sa0"/>
          <p:cNvSpPr/>
          <p:nvPr/>
        </p:nvSpPr>
        <p:spPr>
          <a:xfrm>
            <a:off x="2590800" y="5753100"/>
            <a:ext cx="228600" cy="6350"/>
          </a:xfrm>
          <a:custGeom>
            <a:avLst/>
            <a:gdLst/>
            <a:ahLst/>
            <a:cxnLst/>
            <a:rect l="0" t="0" r="r" b="b"/>
            <a:pathLst>
              <a:path w="228600" h="6350" fill="none">
                <a:moveTo>
                  <a:pt x="0" y="0"/>
                </a:moveTo>
                <a:lnTo>
                  <a:pt x="228600" y="0"/>
                </a:lnTo>
              </a:path>
            </a:pathLst>
          </a:custGeom>
          <a:noFill/>
          <a:ln w="38100" cap="rnd">
            <a:solidFill>
              <a:srgbClr val="F5F7FA">
                <a:alpha val="95000"/>
              </a:srgbClr>
            </a:solidFill>
            <a:round/>
            <a:tailEnd type="triangle" w="med" len="med"/>
          </a:ln>
        </p:spPr>
      </p:sp>
      <p:sp>
        <p:nvSpPr>
          <p:cNvPr id="24" name="st_1"/>
          <p:cNvSpPr/>
          <p:nvPr/>
        </p:nvSpPr>
        <p:spPr>
          <a:xfrm>
            <a:off x="2870200" y="5372100"/>
            <a:ext cx="1930400" cy="762000"/>
          </a:xfrm>
          <a:prstGeom prst="roundRect">
            <a:avLst>
              <a:gd name="adj" fmla="val 11667"/>
            </a:avLst>
          </a:prstGeom>
          <a:solidFill>
            <a:srgbClr val="F5F7FA">
              <a:alpha val="12000"/>
            </a:srgbClr>
          </a:solidFill>
          <a:ln w="12700">
            <a:solidFill>
              <a:srgbClr val="F5F7FA">
                <a:alpha val="85000"/>
              </a:srgbClr>
            </a:solidFill>
          </a:ln>
        </p:spPr>
      </p:sp>
      <p:sp>
        <p:nvSpPr>
          <p:cNvPr id="25" name="st_t1"/>
          <p:cNvSpPr txBox="1"/>
          <p:nvPr/>
        </p:nvSpPr>
        <p:spPr>
          <a:xfrm>
            <a:off x="2870200" y="5524500"/>
            <a:ext cx="1930400" cy="476250"/>
          </a:xfrm>
          <a:prstGeom prst="rect">
            <a:avLst/>
          </a:prstGeom>
          <a:noFill/>
        </p:spPr>
        <p:txBody>
          <a:bodyPr wrap="none" lIns="0" tIns="0" rIns="0" bIns="0" anchor="t">
            <a:noAutofit/>
          </a:bodyPr>
          <a:lstStyle/>
          <a:p>
            <a:pPr algn="ctr">
              <a:lnSpc>
                <a:spcPct val="99174"/>
              </a:lnSpc>
              <a:spcBef>
                <a:spcPts val="0"/>
              </a:spcBef>
            </a:pPr>
            <a:r>
              <a:rPr lang="en-US" sz="1500" spc="0" dirty="0">
                <a:solidFill>
                  <a:srgbClr val="F5F7FA"/>
                </a:solidFill>
                <a:latin typeface="Inter SemiBold"/>
                <a:cs typeface="Inter SemiBold"/>
              </a:rPr>
              <a:t>Zetaris</a:t>
            </a:r>
            <a:br>
              <a:rPr lang="en-US" sz="1500" spc="0" dirty="0">
                <a:solidFill>
                  <a:srgbClr val="F5F7FA"/>
                </a:solidFill>
                <a:latin typeface="Inter SemiBold"/>
                <a:cs typeface="Inter SemiBold"/>
              </a:rPr>
            </a:br>
            <a:r>
              <a:rPr lang="en-US" sz="1500" spc="0" dirty="0">
                <a:solidFill>
                  <a:srgbClr val="F5F7FA"/>
                </a:solidFill>
                <a:latin typeface="Inter SemiBold"/>
                <a:cs typeface="Inter SemiBold"/>
              </a:rPr>
              <a:t>finds the place</a:t>
            </a:r>
          </a:p>
        </p:txBody>
      </p:sp>
      <p:sp>
        <p:nvSpPr>
          <p:cNvPr id="26" name="sa1"/>
          <p:cNvSpPr/>
          <p:nvPr/>
        </p:nvSpPr>
        <p:spPr>
          <a:xfrm>
            <a:off x="4851400" y="5753100"/>
            <a:ext cx="228600" cy="6350"/>
          </a:xfrm>
          <a:custGeom>
            <a:avLst/>
            <a:gdLst/>
            <a:ahLst/>
            <a:cxnLst/>
            <a:rect l="0" t="0" r="r" b="b"/>
            <a:pathLst>
              <a:path w="228600" h="6350" fill="none">
                <a:moveTo>
                  <a:pt x="0" y="0"/>
                </a:moveTo>
                <a:lnTo>
                  <a:pt x="228600" y="0"/>
                </a:lnTo>
              </a:path>
            </a:pathLst>
          </a:custGeom>
          <a:noFill/>
          <a:ln w="38100" cap="rnd">
            <a:solidFill>
              <a:srgbClr val="F5F7FA">
                <a:alpha val="95000"/>
              </a:srgbClr>
            </a:solidFill>
            <a:round/>
            <a:tailEnd type="triangle" w="med" len="med"/>
          </a:ln>
        </p:spPr>
      </p:sp>
      <p:sp>
        <p:nvSpPr>
          <p:cNvPr id="27" name="st_2"/>
          <p:cNvSpPr/>
          <p:nvPr/>
        </p:nvSpPr>
        <p:spPr>
          <a:xfrm>
            <a:off x="5130800" y="5372100"/>
            <a:ext cx="1930400" cy="762000"/>
          </a:xfrm>
          <a:prstGeom prst="roundRect">
            <a:avLst>
              <a:gd name="adj" fmla="val 11667"/>
            </a:avLst>
          </a:prstGeom>
          <a:solidFill>
            <a:srgbClr val="F5F7FA">
              <a:alpha val="12000"/>
            </a:srgbClr>
          </a:solidFill>
          <a:ln w="12700">
            <a:solidFill>
              <a:srgbClr val="F5F7FA">
                <a:alpha val="85000"/>
              </a:srgbClr>
            </a:solidFill>
          </a:ln>
        </p:spPr>
      </p:sp>
      <p:sp>
        <p:nvSpPr>
          <p:cNvPr id="28" name="st_t2"/>
          <p:cNvSpPr txBox="1"/>
          <p:nvPr/>
        </p:nvSpPr>
        <p:spPr>
          <a:xfrm>
            <a:off x="5130800" y="5524500"/>
            <a:ext cx="1930400" cy="476250"/>
          </a:xfrm>
          <a:prstGeom prst="rect">
            <a:avLst/>
          </a:prstGeom>
          <a:noFill/>
        </p:spPr>
        <p:txBody>
          <a:bodyPr wrap="none" lIns="0" tIns="0" rIns="0" bIns="0" anchor="t">
            <a:noAutofit/>
          </a:bodyPr>
          <a:lstStyle/>
          <a:p>
            <a:pPr algn="ctr">
              <a:lnSpc>
                <a:spcPct val="99174"/>
              </a:lnSpc>
              <a:spcBef>
                <a:spcPts val="0"/>
              </a:spcBef>
            </a:pPr>
            <a:r>
              <a:rPr lang="en-US" sz="1500" spc="0" dirty="0">
                <a:solidFill>
                  <a:srgbClr val="F5F7FA"/>
                </a:solidFill>
                <a:latin typeface="Inter SemiBold"/>
                <a:cs typeface="Inter SemiBold"/>
              </a:rPr>
              <a:t>Nemotron agents</a:t>
            </a:r>
            <a:br>
              <a:rPr lang="en-US" sz="1500" spc="0" dirty="0">
                <a:solidFill>
                  <a:srgbClr val="F5F7FA"/>
                </a:solidFill>
                <a:latin typeface="Inter SemiBold"/>
                <a:cs typeface="Inter SemiBold"/>
              </a:rPr>
            </a:br>
            <a:r>
              <a:rPr lang="en-US" sz="1500" spc="0" dirty="0">
                <a:solidFill>
                  <a:srgbClr val="F5F7FA"/>
                </a:solidFill>
                <a:latin typeface="Inter SemiBold"/>
                <a:cs typeface="Inter SemiBold"/>
              </a:rPr>
              <a:t>via Nightshift</a:t>
            </a:r>
          </a:p>
        </p:txBody>
      </p:sp>
      <p:sp>
        <p:nvSpPr>
          <p:cNvPr id="29" name="sa2"/>
          <p:cNvSpPr/>
          <p:nvPr/>
        </p:nvSpPr>
        <p:spPr>
          <a:xfrm>
            <a:off x="7112000" y="5753100"/>
            <a:ext cx="228600" cy="6350"/>
          </a:xfrm>
          <a:custGeom>
            <a:avLst/>
            <a:gdLst/>
            <a:ahLst/>
            <a:cxnLst/>
            <a:rect l="0" t="0" r="r" b="b"/>
            <a:pathLst>
              <a:path w="228600" h="6350" fill="none">
                <a:moveTo>
                  <a:pt x="0" y="0"/>
                </a:moveTo>
                <a:lnTo>
                  <a:pt x="228600" y="0"/>
                </a:lnTo>
              </a:path>
            </a:pathLst>
          </a:custGeom>
          <a:noFill/>
          <a:ln w="38100" cap="rnd">
            <a:solidFill>
              <a:srgbClr val="F5F7FA">
                <a:alpha val="95000"/>
              </a:srgbClr>
            </a:solidFill>
            <a:round/>
            <a:tailEnd type="triangle" w="med" len="med"/>
          </a:ln>
        </p:spPr>
      </p:sp>
      <p:sp>
        <p:nvSpPr>
          <p:cNvPr id="30" name="st_3"/>
          <p:cNvSpPr/>
          <p:nvPr/>
        </p:nvSpPr>
        <p:spPr>
          <a:xfrm>
            <a:off x="7391400" y="5372100"/>
            <a:ext cx="1930400" cy="762000"/>
          </a:xfrm>
          <a:prstGeom prst="roundRect">
            <a:avLst>
              <a:gd name="adj" fmla="val 11667"/>
            </a:avLst>
          </a:prstGeom>
          <a:solidFill>
            <a:srgbClr val="F5F7FA">
              <a:alpha val="12000"/>
            </a:srgbClr>
          </a:solidFill>
          <a:ln w="12700">
            <a:solidFill>
              <a:srgbClr val="F5F7FA">
                <a:alpha val="85000"/>
              </a:srgbClr>
            </a:solidFill>
          </a:ln>
        </p:spPr>
      </p:sp>
      <p:sp>
        <p:nvSpPr>
          <p:cNvPr id="31" name="st_t3"/>
          <p:cNvSpPr txBox="1"/>
          <p:nvPr/>
        </p:nvSpPr>
        <p:spPr>
          <a:xfrm>
            <a:off x="7391400" y="5524500"/>
            <a:ext cx="1930400" cy="476250"/>
          </a:xfrm>
          <a:prstGeom prst="rect">
            <a:avLst/>
          </a:prstGeom>
          <a:noFill/>
        </p:spPr>
        <p:txBody>
          <a:bodyPr wrap="none" lIns="0" tIns="0" rIns="0" bIns="0" anchor="t">
            <a:noAutofit/>
          </a:bodyPr>
          <a:lstStyle/>
          <a:p>
            <a:pPr algn="ctr">
              <a:lnSpc>
                <a:spcPct val="99174"/>
              </a:lnSpc>
              <a:spcBef>
                <a:spcPts val="0"/>
              </a:spcBef>
            </a:pPr>
            <a:r>
              <a:rPr lang="en-US" sz="1500" spc="0" dirty="0">
                <a:solidFill>
                  <a:srgbClr val="F5F7FA"/>
                </a:solidFill>
                <a:latin typeface="Inter SemiBold"/>
                <a:cs typeface="Inter SemiBold"/>
              </a:rPr>
              <a:t>World Model</a:t>
            </a:r>
            <a:br>
              <a:rPr lang="en-US" sz="1500" spc="0" dirty="0">
                <a:solidFill>
                  <a:srgbClr val="F5F7FA"/>
                </a:solidFill>
                <a:latin typeface="Inter SemiBold"/>
                <a:cs typeface="Inter SemiBold"/>
              </a:rPr>
            </a:br>
            <a:r>
              <a:rPr lang="en-US" sz="1500" spc="0" dirty="0">
                <a:solidFill>
                  <a:srgbClr val="F5F7FA"/>
                </a:solidFill>
                <a:latin typeface="Inter SemiBold"/>
                <a:cs typeface="Inter SemiBold"/>
              </a:rPr>
              <a:t>logs every step</a:t>
            </a:r>
          </a:p>
        </p:txBody>
      </p:sp>
      <p:sp>
        <p:nvSpPr>
          <p:cNvPr id="32" name="sa3"/>
          <p:cNvSpPr/>
          <p:nvPr/>
        </p:nvSpPr>
        <p:spPr>
          <a:xfrm>
            <a:off x="9372600" y="5753100"/>
            <a:ext cx="228600" cy="6350"/>
          </a:xfrm>
          <a:custGeom>
            <a:avLst/>
            <a:gdLst/>
            <a:ahLst/>
            <a:cxnLst/>
            <a:rect l="0" t="0" r="r" b="b"/>
            <a:pathLst>
              <a:path w="228600" h="6350" fill="none">
                <a:moveTo>
                  <a:pt x="0" y="0"/>
                </a:moveTo>
                <a:lnTo>
                  <a:pt x="228600" y="0"/>
                </a:lnTo>
              </a:path>
            </a:pathLst>
          </a:custGeom>
          <a:noFill/>
          <a:ln w="38100" cap="rnd">
            <a:solidFill>
              <a:srgbClr val="F5F7FA">
                <a:alpha val="95000"/>
              </a:srgbClr>
            </a:solidFill>
            <a:round/>
            <a:tailEnd type="triangle" w="med" len="med"/>
          </a:ln>
        </p:spPr>
      </p:sp>
      <p:sp>
        <p:nvSpPr>
          <p:cNvPr id="33" name="st_4"/>
          <p:cNvSpPr/>
          <p:nvPr/>
        </p:nvSpPr>
        <p:spPr>
          <a:xfrm>
            <a:off x="9652000" y="5372100"/>
            <a:ext cx="1930400" cy="762000"/>
          </a:xfrm>
          <a:prstGeom prst="roundRect">
            <a:avLst>
              <a:gd name="adj" fmla="val 11667"/>
            </a:avLst>
          </a:prstGeom>
          <a:solidFill>
            <a:srgbClr val="FFB224">
              <a:alpha val="12000"/>
            </a:srgbClr>
          </a:solidFill>
          <a:ln w="12700">
            <a:solidFill>
              <a:srgbClr val="FFB224">
                <a:alpha val="85000"/>
              </a:srgbClr>
            </a:solidFill>
          </a:ln>
        </p:spPr>
      </p:sp>
      <p:sp>
        <p:nvSpPr>
          <p:cNvPr id="34" name="st_t4"/>
          <p:cNvSpPr txBox="1"/>
          <p:nvPr/>
        </p:nvSpPr>
        <p:spPr>
          <a:xfrm>
            <a:off x="9652000" y="5524500"/>
            <a:ext cx="1930400" cy="476250"/>
          </a:xfrm>
          <a:prstGeom prst="rect">
            <a:avLst/>
          </a:prstGeom>
          <a:noFill/>
        </p:spPr>
        <p:txBody>
          <a:bodyPr wrap="none" lIns="0" tIns="0" rIns="0" bIns="0" anchor="t">
            <a:noAutofit/>
          </a:bodyPr>
          <a:lstStyle/>
          <a:p>
            <a:pPr algn="ctr">
              <a:lnSpc>
                <a:spcPct val="99174"/>
              </a:lnSpc>
              <a:spcBef>
                <a:spcPts val="0"/>
              </a:spcBef>
            </a:pPr>
            <a:r>
              <a:rPr lang="en-US" sz="1500" spc="0" dirty="0">
                <a:solidFill>
                  <a:srgbClr val="F5F7FA"/>
                </a:solidFill>
                <a:latin typeface="Inter SemiBold"/>
                <a:cs typeface="Inter SemiBold"/>
              </a:rPr>
              <a:t>Human</a:t>
            </a:r>
            <a:br>
              <a:rPr lang="en-US" sz="1500" spc="0" dirty="0">
                <a:solidFill>
                  <a:srgbClr val="F5F7FA"/>
                </a:solidFill>
                <a:latin typeface="Inter SemiBold"/>
                <a:cs typeface="Inter SemiBold"/>
              </a:rPr>
            </a:br>
            <a:r>
              <a:rPr lang="en-US" sz="1500" spc="0" dirty="0">
                <a:solidFill>
                  <a:srgbClr val="F5F7FA"/>
                </a:solidFill>
                <a:latin typeface="Inter SemiBold"/>
                <a:cs typeface="Inter SemiBold"/>
              </a:rPr>
              <a:t>approves</a:t>
            </a:r>
          </a:p>
        </p:txBody>
      </p:sp>
      <p:sp>
        <p:nvSpPr>
          <p:cNvPr id="35" name="strip_k"/>
          <p:cNvSpPr txBox="1"/>
          <p:nvPr/>
        </p:nvSpPr>
        <p:spPr>
          <a:xfrm>
            <a:off x="609600" y="5041900"/>
            <a:ext cx="10972800" cy="279400"/>
          </a:xfrm>
          <a:prstGeom prst="rect">
            <a:avLst/>
          </a:prstGeom>
          <a:noFill/>
        </p:spPr>
        <p:txBody>
          <a:bodyPr wrap="none" lIns="0" tIns="0" rIns="0" bIns="0" anchor="t">
            <a:noAutofit/>
          </a:bodyPr>
          <a:lstStyle/>
          <a:p>
            <a:pPr algn="l">
              <a:lnSpc>
                <a:spcPct val="95041"/>
              </a:lnSpc>
              <a:spcBef>
                <a:spcPts val="0"/>
              </a:spcBef>
            </a:pPr>
            <a:r>
              <a:rPr lang="en-US" sz="1600" b="1" spc="0" dirty="0">
                <a:solidFill>
                  <a:srgbClr val="F5F7FA"/>
                </a:solidFill>
                <a:latin typeface="Inter"/>
                <a:cs typeface="Inter"/>
              </a:rPr>
              <a:t>Where each one sits in the live pipeline</a:t>
            </a:r>
          </a:p>
        </p:txBody>
      </p:sp>
      <p:sp>
        <p:nvSpPr>
          <p:cNvPr id="36"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Logos: official brand assets (NVIDIA, Zetaris), shown monochrome · Meterless shown as a wordmark</a:t>
            </a:r>
          </a:p>
        </p:txBody>
      </p:sp>
      <p:sp>
        <p:nvSpPr>
          <p:cNvPr id="37"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9690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A small stack. Every decision replayable.</a:t>
            </a:r>
          </a:p>
        </p:txBody>
      </p:sp>
      <p:sp>
        <p:nvSpPr>
          <p:cNvPr id="5" name="sb0"/>
          <p:cNvSpPr/>
          <p:nvPr/>
        </p:nvSpPr>
        <p:spPr>
          <a:xfrm>
            <a:off x="1968500" y="1346200"/>
            <a:ext cx="8255000" cy="863600"/>
          </a:xfrm>
          <a:prstGeom prst="roundRect">
            <a:avLst>
              <a:gd name="adj" fmla="val 13235"/>
            </a:avLst>
          </a:prstGeom>
          <a:solidFill>
            <a:srgbClr val="FFB224">
              <a:alpha val="10000"/>
            </a:srgbClr>
          </a:solidFill>
          <a:ln w="12700">
            <a:solidFill>
              <a:srgbClr val="FFB224">
                <a:alpha val="70000"/>
              </a:srgbClr>
            </a:solidFill>
          </a:ln>
        </p:spPr>
      </p:sp>
      <p:sp>
        <p:nvSpPr>
          <p:cNvPr id="6" name="sl0"/>
          <p:cNvSpPr txBox="1"/>
          <p:nvPr/>
        </p:nvSpPr>
        <p:spPr>
          <a:xfrm>
            <a:off x="3810000" y="14605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FFB224"/>
                </a:solidFill>
                <a:latin typeface="Inter"/>
                <a:cs typeface="Inter"/>
              </a:rPr>
              <a:t>AGENTS</a:t>
            </a:r>
          </a:p>
        </p:txBody>
      </p:sp>
      <p:sp>
        <p:nvSpPr>
          <p:cNvPr id="7" name="st0"/>
          <p:cNvSpPr txBox="1"/>
          <p:nvPr/>
        </p:nvSpPr>
        <p:spPr>
          <a:xfrm>
            <a:off x="3810000" y="1739900"/>
            <a:ext cx="6159500" cy="3556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solidFill>
                <a:latin typeface="Inter SemiBold"/>
                <a:cs typeface="Inter SemiBold"/>
              </a:rPr>
              <a:t>Nemotron via Meterless Nightshift</a:t>
            </a:r>
          </a:p>
        </p:txBody>
      </p:sp>
      <p:pic>
        <p:nvPicPr>
          <p:cNvPr id="8" name="mk_nv"/>
          <p:cNvPicPr>
            <a:picLocks noChangeAspect="1"/>
          </p:cNvPicPr>
          <p:nvPr/>
        </p:nvPicPr>
        <p:blipFill>
          <a:blip r:embed="rId2"/>
          <a:srcRect l="0" t="0" r="0" b="87"/>
          <a:stretch>
            <a:fillRect/>
          </a:stretch>
        </p:blipFill>
        <p:spPr>
          <a:xfrm>
            <a:off x="2495550" y="1473200"/>
            <a:ext cx="787400" cy="609600"/>
          </a:xfrm>
          <a:prstGeom prst="rect">
            <a:avLst/>
          </a:prstGeom>
        </p:spPr>
      </p:pic>
      <p:sp>
        <p:nvSpPr>
          <p:cNvPr id="9" name="sb1"/>
          <p:cNvSpPr/>
          <p:nvPr/>
        </p:nvSpPr>
        <p:spPr>
          <a:xfrm>
            <a:off x="1625600" y="2311400"/>
            <a:ext cx="8934450" cy="863600"/>
          </a:xfrm>
          <a:prstGeom prst="roundRect">
            <a:avLst>
              <a:gd name="adj" fmla="val 13235"/>
            </a:avLst>
          </a:prstGeom>
          <a:solidFill>
            <a:srgbClr val="FFB224">
              <a:alpha val="13000"/>
            </a:srgbClr>
          </a:solidFill>
          <a:ln w="12700">
            <a:solidFill>
              <a:srgbClr val="FFB224">
                <a:alpha val="70000"/>
              </a:srgbClr>
            </a:solidFill>
          </a:ln>
        </p:spPr>
      </p:sp>
      <p:sp>
        <p:nvSpPr>
          <p:cNvPr id="10" name="sl1"/>
          <p:cNvSpPr txBox="1"/>
          <p:nvPr/>
        </p:nvSpPr>
        <p:spPr>
          <a:xfrm>
            <a:off x="3467100" y="24257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FFB224"/>
                </a:solidFill>
                <a:latin typeface="Inter"/>
                <a:cs typeface="Inter"/>
              </a:rPr>
              <a:t>MEMORY</a:t>
            </a:r>
          </a:p>
        </p:txBody>
      </p:sp>
      <p:sp>
        <p:nvSpPr>
          <p:cNvPr id="11" name="st1"/>
          <p:cNvSpPr txBox="1"/>
          <p:nvPr/>
        </p:nvSpPr>
        <p:spPr>
          <a:xfrm>
            <a:off x="3467100" y="2705100"/>
            <a:ext cx="6838950" cy="3556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solidFill>
                <a:latin typeface="Inter SemiBold"/>
                <a:cs typeface="Inter SemiBold"/>
              </a:rPr>
              <a:t>World Model engine · one event log</a:t>
            </a:r>
          </a:p>
        </p:txBody>
      </p:sp>
      <p:sp>
        <p:nvSpPr>
          <p:cNvPr id="12" name="mk_ml"/>
          <p:cNvSpPr txBox="1"/>
          <p:nvPr/>
        </p:nvSpPr>
        <p:spPr>
          <a:xfrm>
            <a:off x="1816100" y="2603500"/>
            <a:ext cx="1524000" cy="279400"/>
          </a:xfrm>
          <a:prstGeom prst="rect">
            <a:avLst/>
          </a:prstGeom>
          <a:noFill/>
        </p:spPr>
        <p:txBody>
          <a:bodyPr wrap="none" lIns="0" tIns="0" rIns="0" bIns="0" anchor="t">
            <a:noAutofit/>
          </a:bodyPr>
          <a:lstStyle/>
          <a:p>
            <a:pPr algn="ctr">
              <a:lnSpc>
                <a:spcPct val="95041"/>
              </a:lnSpc>
              <a:spcBef>
                <a:spcPts val="0"/>
              </a:spcBef>
            </a:pPr>
            <a:r>
              <a:rPr lang="en-US" sz="1800" b="1" spc="-18" dirty="0">
                <a:solidFill>
                  <a:srgbClr val="F5F7FA"/>
                </a:solidFill>
                <a:latin typeface="Inter Display"/>
                <a:cs typeface="Inter Display"/>
              </a:rPr>
              <a:t>METERLESS</a:t>
            </a:r>
          </a:p>
        </p:txBody>
      </p:sp>
      <p:sp>
        <p:nvSpPr>
          <p:cNvPr id="13" name="sb2"/>
          <p:cNvSpPr/>
          <p:nvPr/>
        </p:nvSpPr>
        <p:spPr>
          <a:xfrm>
            <a:off x="1289050" y="3276600"/>
            <a:ext cx="9613900" cy="863600"/>
          </a:xfrm>
          <a:prstGeom prst="roundRect">
            <a:avLst>
              <a:gd name="adj" fmla="val 13235"/>
            </a:avLst>
          </a:prstGeom>
          <a:solidFill>
            <a:srgbClr val="FFB224">
              <a:alpha val="16000"/>
            </a:srgbClr>
          </a:solidFill>
          <a:ln w="12700">
            <a:solidFill>
              <a:srgbClr val="FFB224">
                <a:alpha val="70000"/>
              </a:srgbClr>
            </a:solidFill>
          </a:ln>
        </p:spPr>
      </p:sp>
      <p:sp>
        <p:nvSpPr>
          <p:cNvPr id="14" name="sl2"/>
          <p:cNvSpPr txBox="1"/>
          <p:nvPr/>
        </p:nvSpPr>
        <p:spPr>
          <a:xfrm>
            <a:off x="3130550" y="33909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FFB224"/>
                </a:solidFill>
                <a:latin typeface="Inter"/>
                <a:cs typeface="Inter"/>
              </a:rPr>
              <a:t>PLACE &amp; FLOOD</a:t>
            </a:r>
          </a:p>
        </p:txBody>
      </p:sp>
      <p:sp>
        <p:nvSpPr>
          <p:cNvPr id="15" name="st2"/>
          <p:cNvSpPr txBox="1"/>
          <p:nvPr/>
        </p:nvSpPr>
        <p:spPr>
          <a:xfrm>
            <a:off x="3130550" y="3670300"/>
            <a:ext cx="7518400" cy="3556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solidFill>
                <a:latin typeface="Inter SemiBold"/>
                <a:cs typeface="Inter SemiBold"/>
              </a:rPr>
              <a:t>REST · S3 · USL views + OpenStreetMap roads</a:t>
            </a:r>
          </a:p>
        </p:txBody>
      </p:sp>
      <p:pic>
        <p:nvPicPr>
          <p:cNvPr id="16" name="mk_zt"/>
          <p:cNvPicPr>
            <a:picLocks noChangeAspect="1"/>
          </p:cNvPicPr>
          <p:nvPr/>
        </p:nvPicPr>
        <p:blipFill>
          <a:blip r:embed="rId3"/>
          <a:srcRect l="500" t="0" r="500" b="0"/>
          <a:stretch>
            <a:fillRect/>
          </a:stretch>
        </p:blipFill>
        <p:spPr>
          <a:xfrm>
            <a:off x="1644650" y="3600450"/>
            <a:ext cx="1270000" cy="209550"/>
          </a:xfrm>
          <a:prstGeom prst="rect">
            <a:avLst/>
          </a:prstGeom>
        </p:spPr>
      </p:pic>
      <p:sp>
        <p:nvSpPr>
          <p:cNvPr id="17" name="sb3"/>
          <p:cNvSpPr/>
          <p:nvPr/>
        </p:nvSpPr>
        <p:spPr>
          <a:xfrm>
            <a:off x="946150" y="4241800"/>
            <a:ext cx="10293350" cy="863600"/>
          </a:xfrm>
          <a:prstGeom prst="roundRect">
            <a:avLst>
              <a:gd name="adj" fmla="val 13235"/>
            </a:avLst>
          </a:prstGeom>
          <a:solidFill>
            <a:srgbClr val="FFFFFF">
              <a:alpha val="7000"/>
            </a:srgbClr>
          </a:solidFill>
          <a:ln w="12700">
            <a:solidFill>
              <a:srgbClr val="F5F7FA">
                <a:alpha val="30000"/>
              </a:srgbClr>
            </a:solidFill>
          </a:ln>
        </p:spPr>
      </p:sp>
      <p:sp>
        <p:nvSpPr>
          <p:cNvPr id="18" name="sl3"/>
          <p:cNvSpPr txBox="1"/>
          <p:nvPr/>
        </p:nvSpPr>
        <p:spPr>
          <a:xfrm>
            <a:off x="2787650" y="43561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FFB224"/>
                </a:solidFill>
                <a:latin typeface="Inter"/>
                <a:cs typeface="Inter"/>
              </a:rPr>
              <a:t>APP</a:t>
            </a:r>
          </a:p>
        </p:txBody>
      </p:sp>
      <p:sp>
        <p:nvSpPr>
          <p:cNvPr id="19" name="st3"/>
          <p:cNvSpPr txBox="1"/>
          <p:nvPr/>
        </p:nvSpPr>
        <p:spPr>
          <a:xfrm>
            <a:off x="2787650" y="4635500"/>
            <a:ext cx="8197850" cy="3556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solidFill>
                <a:latin typeface="Inter SemiBold"/>
                <a:cs typeface="Inter SemiBold"/>
              </a:rPr>
              <a:t>Python standard library · HTTP /run API</a:t>
            </a:r>
          </a:p>
        </p:txBody>
      </p:sp>
      <p:sp>
        <p:nvSpPr>
          <p:cNvPr id="20" name="mk3"/>
          <p:cNvSpPr txBox="1"/>
          <p:nvPr/>
        </p:nvSpPr>
        <p:spPr>
          <a:xfrm>
            <a:off x="1136650" y="4521200"/>
            <a:ext cx="1524000" cy="317500"/>
          </a:xfrm>
          <a:prstGeom prst="rect">
            <a:avLst/>
          </a:prstGeom>
          <a:noFill/>
        </p:spPr>
        <p:txBody>
          <a:bodyPr wrap="none" lIns="0" tIns="0" rIns="0" bIns="0" anchor="t">
            <a:noAutofit/>
          </a:bodyPr>
          <a:lstStyle/>
          <a:p>
            <a:pPr algn="ctr">
              <a:lnSpc>
                <a:spcPct val="95041"/>
              </a:lnSpc>
              <a:spcBef>
                <a:spcPts val="0"/>
              </a:spcBef>
            </a:pPr>
            <a:r>
              <a:rPr lang="en-US" sz="1900" b="1" spc="-19" dirty="0">
                <a:solidFill>
                  <a:srgbClr val="F5F7FA"/>
                </a:solidFill>
                <a:latin typeface="Inter Display"/>
                <a:cs typeface="Inter Display"/>
              </a:rPr>
              <a:t>Python</a:t>
            </a:r>
          </a:p>
        </p:txBody>
      </p:sp>
      <p:sp>
        <p:nvSpPr>
          <p:cNvPr id="21" name="sb4"/>
          <p:cNvSpPr/>
          <p:nvPr/>
        </p:nvSpPr>
        <p:spPr>
          <a:xfrm>
            <a:off x="609600" y="5207000"/>
            <a:ext cx="10972800" cy="863600"/>
          </a:xfrm>
          <a:prstGeom prst="roundRect">
            <a:avLst>
              <a:gd name="adj" fmla="val 13235"/>
            </a:avLst>
          </a:prstGeom>
          <a:solidFill>
            <a:srgbClr val="FFFFFF">
              <a:alpha val="7000"/>
            </a:srgbClr>
          </a:solidFill>
          <a:ln w="12700">
            <a:solidFill>
              <a:srgbClr val="F5F7FA">
                <a:alpha val="30000"/>
              </a:srgbClr>
            </a:solidFill>
          </a:ln>
        </p:spPr>
      </p:sp>
      <p:sp>
        <p:nvSpPr>
          <p:cNvPr id="22" name="sl4"/>
          <p:cNvSpPr txBox="1"/>
          <p:nvPr/>
        </p:nvSpPr>
        <p:spPr>
          <a:xfrm>
            <a:off x="2451100" y="5321300"/>
            <a:ext cx="5715000" cy="254000"/>
          </a:xfrm>
          <a:prstGeom prst="rect">
            <a:avLst/>
          </a:prstGeom>
          <a:noFill/>
        </p:spPr>
        <p:txBody>
          <a:bodyPr wrap="none" lIns="0" tIns="0" rIns="0" bIns="0" anchor="t">
            <a:noAutofit/>
          </a:bodyPr>
          <a:lstStyle/>
          <a:p>
            <a:pPr algn="l">
              <a:lnSpc>
                <a:spcPct val="95041"/>
              </a:lnSpc>
              <a:spcBef>
                <a:spcPts val="0"/>
              </a:spcBef>
            </a:pPr>
            <a:r>
              <a:rPr lang="en-US" sz="1400" b="1" spc="0" dirty="0">
                <a:solidFill>
                  <a:srgbClr val="FFB224"/>
                </a:solidFill>
                <a:latin typeface="Inter"/>
                <a:cs typeface="Inter"/>
              </a:rPr>
              <a:t>SHIP</a:t>
            </a:r>
          </a:p>
        </p:txBody>
      </p:sp>
      <p:sp>
        <p:nvSpPr>
          <p:cNvPr id="23" name="st4"/>
          <p:cNvSpPr txBox="1"/>
          <p:nvPr/>
        </p:nvSpPr>
        <p:spPr>
          <a:xfrm>
            <a:off x="2451100" y="5600700"/>
            <a:ext cx="8877300" cy="355600"/>
          </a:xfrm>
          <a:prstGeom prst="rect">
            <a:avLst/>
          </a:prstGeom>
          <a:noFill/>
        </p:spPr>
        <p:txBody>
          <a:bodyPr wrap="none" lIns="0" tIns="0" rIns="0" bIns="0" anchor="t">
            <a:noAutofit/>
          </a:bodyPr>
          <a:lstStyle/>
          <a:p>
            <a:pPr algn="l">
              <a:lnSpc>
                <a:spcPct val="95041"/>
              </a:lnSpc>
              <a:spcBef>
                <a:spcPts val="0"/>
              </a:spcBef>
            </a:pPr>
            <a:r>
              <a:rPr lang="en-US" sz="2000" spc="-20" dirty="0">
                <a:solidFill>
                  <a:srgbClr val="F5F7FA"/>
                </a:solidFill>
                <a:latin typeface="Inter SemiBold"/>
                <a:cs typeface="Inter SemiBold"/>
              </a:rPr>
              <a:t>Docker · SAMPLE_MODE: offline, no keys</a:t>
            </a:r>
          </a:p>
        </p:txBody>
      </p:sp>
      <p:sp>
        <p:nvSpPr>
          <p:cNvPr id="24" name="mk4"/>
          <p:cNvSpPr txBox="1"/>
          <p:nvPr/>
        </p:nvSpPr>
        <p:spPr>
          <a:xfrm>
            <a:off x="800100" y="5486400"/>
            <a:ext cx="1524000" cy="317500"/>
          </a:xfrm>
          <a:prstGeom prst="rect">
            <a:avLst/>
          </a:prstGeom>
          <a:noFill/>
        </p:spPr>
        <p:txBody>
          <a:bodyPr wrap="none" lIns="0" tIns="0" rIns="0" bIns="0" anchor="t">
            <a:noAutofit/>
          </a:bodyPr>
          <a:lstStyle/>
          <a:p>
            <a:pPr algn="ctr">
              <a:lnSpc>
                <a:spcPct val="95041"/>
              </a:lnSpc>
              <a:spcBef>
                <a:spcPts val="0"/>
              </a:spcBef>
            </a:pPr>
            <a:r>
              <a:rPr lang="en-US" sz="1900" b="1" spc="-19" dirty="0">
                <a:solidFill>
                  <a:srgbClr val="F5F7FA"/>
                </a:solidFill>
                <a:latin typeface="Inter Display"/>
                <a:cs typeface="Inter Display"/>
              </a:rPr>
              <a:t>Docker</a:t>
            </a:r>
          </a:p>
        </p:txBody>
      </p:sp>
      <p:sp>
        <p:nvSpPr>
          <p:cNvPr id="25"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Architecture and setup: repository README · no keys or tokens are shown or needed for SAMPLE_MODE</a:t>
            </a:r>
          </a:p>
        </p:txBody>
      </p:sp>
      <p:sp>
        <p:nvSpPr>
          <p:cNvPr id="26"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9690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What comes next.</a:t>
            </a:r>
          </a:p>
        </p:txBody>
      </p:sp>
      <p:sp>
        <p:nvSpPr>
          <p:cNvPr id="5" name="nx0"/>
          <p:cNvSpPr/>
          <p:nvPr/>
        </p:nvSpPr>
        <p:spPr>
          <a:xfrm>
            <a:off x="609600" y="1333500"/>
            <a:ext cx="3454400" cy="3429000"/>
          </a:xfrm>
          <a:prstGeom prst="roundRect">
            <a:avLst>
              <a:gd name="adj" fmla="val 4074"/>
            </a:avLst>
          </a:prstGeom>
          <a:solidFill>
            <a:srgbClr val="FFFFFF">
              <a:alpha val="6000"/>
            </a:srgbClr>
          </a:solidFill>
          <a:ln w="12700">
            <a:solidFill>
              <a:srgbClr val="F5F7FA">
                <a:alpha val="22000"/>
              </a:srgbClr>
            </a:solidFill>
          </a:ln>
        </p:spPr>
      </p:sp>
      <p:sp>
        <p:nvSpPr>
          <p:cNvPr id="6" name="nn0"/>
          <p:cNvSpPr txBox="1"/>
          <p:nvPr/>
        </p:nvSpPr>
        <p:spPr>
          <a:xfrm>
            <a:off x="914400" y="1460500"/>
            <a:ext cx="1905000" cy="1333500"/>
          </a:xfrm>
          <a:prstGeom prst="rect">
            <a:avLst/>
          </a:prstGeom>
          <a:noFill/>
        </p:spPr>
        <p:txBody>
          <a:bodyPr wrap="none" lIns="0" tIns="0" rIns="0" bIns="0" anchor="t">
            <a:noAutofit/>
          </a:bodyPr>
          <a:lstStyle/>
          <a:p>
            <a:pPr algn="l">
              <a:lnSpc>
                <a:spcPct val="82645"/>
              </a:lnSpc>
              <a:spcBef>
                <a:spcPts val="0"/>
              </a:spcBef>
            </a:pPr>
            <a:r>
              <a:rPr lang="en-US" sz="9500" b="1" spc="-114" dirty="0">
                <a:solidFill>
                  <a:srgbClr val="FFB224"/>
                </a:solidFill>
                <a:latin typeface="Inter Display"/>
                <a:cs typeface="Inter Display"/>
              </a:rPr>
              <a:t>1</a:t>
            </a:r>
          </a:p>
        </p:txBody>
      </p:sp>
      <p:sp>
        <p:nvSpPr>
          <p:cNvPr id="7" name="nt0"/>
          <p:cNvSpPr txBox="1"/>
          <p:nvPr/>
        </p:nvSpPr>
        <p:spPr>
          <a:xfrm>
            <a:off x="863600" y="2832100"/>
            <a:ext cx="3111500" cy="889000"/>
          </a:xfrm>
          <a:prstGeom prst="rect">
            <a:avLst/>
          </a:prstGeom>
          <a:noFill/>
        </p:spPr>
        <p:txBody>
          <a:bodyPr wrap="none" lIns="0" tIns="0" rIns="0" bIns="0" anchor="t">
            <a:noAutofit/>
          </a:bodyPr>
          <a:lstStyle/>
          <a:p>
            <a:pPr algn="l">
              <a:lnSpc>
                <a:spcPct val="90909"/>
              </a:lnSpc>
              <a:spcBef>
                <a:spcPts val="0"/>
              </a:spcBef>
            </a:pPr>
            <a:r>
              <a:rPr lang="en-US" sz="2500" b="1" spc="-30" dirty="0">
                <a:solidFill>
                  <a:srgbClr val="F5F7FA"/>
                </a:solidFill>
                <a:latin typeface="Inter Display"/>
                <a:cs typeface="Inter Display"/>
              </a:rPr>
              <a:t>WhatsApp Business</a:t>
            </a:r>
            <a:br>
              <a:rPr lang="en-US" sz="2500" b="1" spc="-30" dirty="0">
                <a:solidFill>
                  <a:srgbClr val="F5F7FA"/>
                </a:solidFill>
                <a:latin typeface="Inter Display"/>
                <a:cs typeface="Inter Display"/>
              </a:rPr>
            </a:br>
            <a:r>
              <a:rPr lang="en-US" sz="2500" b="1" spc="-30" dirty="0">
                <a:solidFill>
                  <a:srgbClr val="F5F7FA"/>
                </a:solidFill>
                <a:latin typeface="Inter Display"/>
                <a:cs typeface="Inter Display"/>
              </a:rPr>
              <a:t>+ the 193 line</a:t>
            </a:r>
          </a:p>
        </p:txBody>
      </p:sp>
      <p:sp>
        <p:nvSpPr>
          <p:cNvPr id="8" name="ns0"/>
          <p:cNvSpPr txBox="1"/>
          <p:nvPr/>
        </p:nvSpPr>
        <p:spPr>
          <a:xfrm>
            <a:off x="914400" y="3873500"/>
            <a:ext cx="2984500" cy="698500"/>
          </a:xfrm>
          <a:prstGeom prst="rect">
            <a:avLst/>
          </a:prstGeom>
          <a:noFill/>
        </p:spPr>
        <p:txBody>
          <a:bodyPr wrap="none" lIns="0" tIns="0" rIns="0" bIns="0" anchor="t">
            <a:noAutofit/>
          </a:bodyPr>
          <a:lstStyle/>
          <a:p>
            <a:pPr algn="l">
              <a:lnSpc>
                <a:spcPct val="100826"/>
              </a:lnSpc>
              <a:spcBef>
                <a:spcPts val="0"/>
              </a:spcBef>
            </a:pPr>
            <a:r>
              <a:rPr lang="en-US" sz="1900" spc="-19" dirty="0">
                <a:solidFill>
                  <a:srgbClr val="F5F7FA">
                    <a:alpha val="92000"/>
                  </a:srgbClr>
                </a:solidFill>
                <a:latin typeface="Inter"/>
                <a:cs typeface="Inter"/>
              </a:rPr>
              <a:t>requests flow into the</a:t>
            </a:r>
            <a:br>
              <a:rPr lang="en-US" sz="1900" spc="-19" dirty="0">
                <a:solidFill>
                  <a:srgbClr val="F5F7FA">
                    <a:alpha val="92000"/>
                  </a:srgbClr>
                </a:solidFill>
                <a:latin typeface="Inter"/>
                <a:cs typeface="Inter"/>
              </a:rPr>
            </a:br>
            <a:r>
              <a:rPr lang="en-US" sz="1900" spc="-19" dirty="0">
                <a:solidFill>
                  <a:srgbClr val="F5F7FA">
                    <a:alpha val="92000"/>
                  </a:srgbClr>
                </a:solidFill>
                <a:latin typeface="Inter"/>
                <a:cs typeface="Inter"/>
              </a:rPr>
              <a:t>same queue</a:t>
            </a:r>
          </a:p>
        </p:txBody>
      </p:sp>
      <p:sp>
        <p:nvSpPr>
          <p:cNvPr id="9" name="nx1"/>
          <p:cNvSpPr/>
          <p:nvPr/>
        </p:nvSpPr>
        <p:spPr>
          <a:xfrm>
            <a:off x="4368800" y="1333500"/>
            <a:ext cx="3454400" cy="3429000"/>
          </a:xfrm>
          <a:prstGeom prst="roundRect">
            <a:avLst>
              <a:gd name="adj" fmla="val 4074"/>
            </a:avLst>
          </a:prstGeom>
          <a:solidFill>
            <a:srgbClr val="FFFFFF">
              <a:alpha val="6000"/>
            </a:srgbClr>
          </a:solidFill>
          <a:ln w="12700">
            <a:solidFill>
              <a:srgbClr val="F5F7FA">
                <a:alpha val="22000"/>
              </a:srgbClr>
            </a:solidFill>
          </a:ln>
        </p:spPr>
      </p:sp>
      <p:sp>
        <p:nvSpPr>
          <p:cNvPr id="10" name="nn1"/>
          <p:cNvSpPr txBox="1"/>
          <p:nvPr/>
        </p:nvSpPr>
        <p:spPr>
          <a:xfrm>
            <a:off x="4673600" y="1460500"/>
            <a:ext cx="1905000" cy="1333500"/>
          </a:xfrm>
          <a:prstGeom prst="rect">
            <a:avLst/>
          </a:prstGeom>
          <a:noFill/>
        </p:spPr>
        <p:txBody>
          <a:bodyPr wrap="none" lIns="0" tIns="0" rIns="0" bIns="0" anchor="t">
            <a:noAutofit/>
          </a:bodyPr>
          <a:lstStyle/>
          <a:p>
            <a:pPr algn="l">
              <a:lnSpc>
                <a:spcPct val="82645"/>
              </a:lnSpc>
              <a:spcBef>
                <a:spcPts val="0"/>
              </a:spcBef>
            </a:pPr>
            <a:r>
              <a:rPr lang="en-US" sz="9500" b="1" spc="-114" dirty="0">
                <a:solidFill>
                  <a:srgbClr val="FFB224"/>
                </a:solidFill>
                <a:latin typeface="Inter Display"/>
                <a:cs typeface="Inter Display"/>
              </a:rPr>
              <a:t>2</a:t>
            </a:r>
          </a:p>
        </p:txBody>
      </p:sp>
      <p:sp>
        <p:nvSpPr>
          <p:cNvPr id="11" name="nt1"/>
          <p:cNvSpPr txBox="1"/>
          <p:nvPr/>
        </p:nvSpPr>
        <p:spPr>
          <a:xfrm>
            <a:off x="4622800" y="2832100"/>
            <a:ext cx="3111500" cy="889000"/>
          </a:xfrm>
          <a:prstGeom prst="rect">
            <a:avLst/>
          </a:prstGeom>
          <a:noFill/>
        </p:spPr>
        <p:txBody>
          <a:bodyPr wrap="none" lIns="0" tIns="0" rIns="0" bIns="0" anchor="t">
            <a:noAutofit/>
          </a:bodyPr>
          <a:lstStyle/>
          <a:p>
            <a:pPr algn="l">
              <a:lnSpc>
                <a:spcPct val="90909"/>
              </a:lnSpc>
              <a:spcBef>
                <a:spcPts val="0"/>
              </a:spcBef>
            </a:pPr>
            <a:r>
              <a:rPr lang="en-US" sz="2500" b="1" spc="-30" dirty="0">
                <a:solidFill>
                  <a:srgbClr val="F5F7FA"/>
                </a:solidFill>
                <a:latin typeface="Inter Display"/>
                <a:cs typeface="Inter Display"/>
              </a:rPr>
              <a:t>Live river gauges</a:t>
            </a:r>
          </a:p>
        </p:txBody>
      </p:sp>
      <p:sp>
        <p:nvSpPr>
          <p:cNvPr id="12" name="ns1"/>
          <p:cNvSpPr txBox="1"/>
          <p:nvPr/>
        </p:nvSpPr>
        <p:spPr>
          <a:xfrm>
            <a:off x="4673600" y="3873500"/>
            <a:ext cx="2984500" cy="698500"/>
          </a:xfrm>
          <a:prstGeom prst="rect">
            <a:avLst/>
          </a:prstGeom>
          <a:noFill/>
        </p:spPr>
        <p:txBody>
          <a:bodyPr wrap="none" lIns="0" tIns="0" rIns="0" bIns="0" anchor="t">
            <a:noAutofit/>
          </a:bodyPr>
          <a:lstStyle/>
          <a:p>
            <a:pPr algn="l">
              <a:lnSpc>
                <a:spcPct val="100826"/>
              </a:lnSpc>
              <a:spcBef>
                <a:spcPts val="0"/>
              </a:spcBef>
            </a:pPr>
            <a:r>
              <a:rPr lang="en-US" sz="1900" spc="-19" dirty="0">
                <a:solidFill>
                  <a:srgbClr val="F5F7FA">
                    <a:alpha val="92000"/>
                  </a:srgbClr>
                </a:solidFill>
                <a:latin typeface="Inter"/>
                <a:cs typeface="Inter"/>
              </a:rPr>
              <a:t>Guaíba, Jacuí, Taquari</a:t>
            </a:r>
            <a:br>
              <a:rPr lang="en-US" sz="1900" spc="-19" dirty="0">
                <a:solidFill>
                  <a:srgbClr val="F5F7FA">
                    <a:alpha val="92000"/>
                  </a:srgbClr>
                </a:solidFill>
                <a:latin typeface="Inter"/>
                <a:cs typeface="Inter"/>
              </a:rPr>
            </a:br>
            <a:r>
              <a:rPr lang="en-US" sz="1900" spc="-19" dirty="0">
                <a:solidFill>
                  <a:srgbClr val="F5F7FA">
                    <a:alpha val="92000"/>
                  </a:srgbClr>
                </a:solidFill>
                <a:latin typeface="Inter"/>
                <a:cs typeface="Inter"/>
              </a:rPr>
              <a:t>levels via Zetaris</a:t>
            </a:r>
          </a:p>
        </p:txBody>
      </p:sp>
      <p:sp>
        <p:nvSpPr>
          <p:cNvPr id="13" name="nx2"/>
          <p:cNvSpPr/>
          <p:nvPr/>
        </p:nvSpPr>
        <p:spPr>
          <a:xfrm>
            <a:off x="8128000" y="1333500"/>
            <a:ext cx="3454400" cy="3429000"/>
          </a:xfrm>
          <a:prstGeom prst="roundRect">
            <a:avLst>
              <a:gd name="adj" fmla="val 4074"/>
            </a:avLst>
          </a:prstGeom>
          <a:solidFill>
            <a:srgbClr val="FFFFFF">
              <a:alpha val="6000"/>
            </a:srgbClr>
          </a:solidFill>
          <a:ln w="12700">
            <a:solidFill>
              <a:srgbClr val="F5F7FA">
                <a:alpha val="22000"/>
              </a:srgbClr>
            </a:solidFill>
          </a:ln>
        </p:spPr>
      </p:sp>
      <p:sp>
        <p:nvSpPr>
          <p:cNvPr id="14" name="nn2"/>
          <p:cNvSpPr txBox="1"/>
          <p:nvPr/>
        </p:nvSpPr>
        <p:spPr>
          <a:xfrm>
            <a:off x="8432800" y="1460500"/>
            <a:ext cx="1905000" cy="1333500"/>
          </a:xfrm>
          <a:prstGeom prst="rect">
            <a:avLst/>
          </a:prstGeom>
          <a:noFill/>
        </p:spPr>
        <p:txBody>
          <a:bodyPr wrap="none" lIns="0" tIns="0" rIns="0" bIns="0" anchor="t">
            <a:noAutofit/>
          </a:bodyPr>
          <a:lstStyle/>
          <a:p>
            <a:pPr algn="l">
              <a:lnSpc>
                <a:spcPct val="82645"/>
              </a:lnSpc>
              <a:spcBef>
                <a:spcPts val="0"/>
              </a:spcBef>
            </a:pPr>
            <a:r>
              <a:rPr lang="en-US" sz="9500" b="1" spc="-114" dirty="0">
                <a:solidFill>
                  <a:srgbClr val="FFB224"/>
                </a:solidFill>
                <a:latin typeface="Inter Display"/>
                <a:cs typeface="Inter Display"/>
              </a:rPr>
              <a:t>3</a:t>
            </a:r>
          </a:p>
        </p:txBody>
      </p:sp>
      <p:sp>
        <p:nvSpPr>
          <p:cNvPr id="15" name="nt2"/>
          <p:cNvSpPr txBox="1"/>
          <p:nvPr/>
        </p:nvSpPr>
        <p:spPr>
          <a:xfrm>
            <a:off x="8382000" y="2832100"/>
            <a:ext cx="3111500" cy="889000"/>
          </a:xfrm>
          <a:prstGeom prst="rect">
            <a:avLst/>
          </a:prstGeom>
          <a:noFill/>
        </p:spPr>
        <p:txBody>
          <a:bodyPr wrap="none" lIns="0" tIns="0" rIns="0" bIns="0" anchor="t">
            <a:noAutofit/>
          </a:bodyPr>
          <a:lstStyle/>
          <a:p>
            <a:pPr algn="l">
              <a:lnSpc>
                <a:spcPct val="90909"/>
              </a:lnSpc>
              <a:spcBef>
                <a:spcPts val="0"/>
              </a:spcBef>
            </a:pPr>
            <a:r>
              <a:rPr lang="en-US" sz="2500" b="1" spc="-30" dirty="0">
                <a:solidFill>
                  <a:srgbClr val="F5F7FA"/>
                </a:solidFill>
                <a:latin typeface="Inter Display"/>
                <a:cs typeface="Inter Display"/>
              </a:rPr>
              <a:t>Defesa Civil pilot</a:t>
            </a:r>
          </a:p>
        </p:txBody>
      </p:sp>
      <p:sp>
        <p:nvSpPr>
          <p:cNvPr id="16" name="ns2"/>
          <p:cNvSpPr txBox="1"/>
          <p:nvPr/>
        </p:nvSpPr>
        <p:spPr>
          <a:xfrm>
            <a:off x="8432800" y="3873500"/>
            <a:ext cx="2984500" cy="698500"/>
          </a:xfrm>
          <a:prstGeom prst="rect">
            <a:avLst/>
          </a:prstGeom>
          <a:noFill/>
        </p:spPr>
        <p:txBody>
          <a:bodyPr wrap="none" lIns="0" tIns="0" rIns="0" bIns="0" anchor="t">
            <a:noAutofit/>
          </a:bodyPr>
          <a:lstStyle/>
          <a:p>
            <a:pPr algn="l">
              <a:lnSpc>
                <a:spcPct val="100826"/>
              </a:lnSpc>
              <a:spcBef>
                <a:spcPts val="0"/>
              </a:spcBef>
            </a:pPr>
            <a:r>
              <a:rPr lang="en-US" sz="1900" spc="-19" dirty="0">
                <a:solidFill>
                  <a:srgbClr val="F5F7FA">
                    <a:alpha val="92000"/>
                  </a:srgbClr>
                </a:solidFill>
                <a:latin typeface="Inter"/>
                <a:cs typeface="Inter"/>
              </a:rPr>
              <a:t>before the next</a:t>
            </a:r>
            <a:br>
              <a:rPr lang="en-US" sz="1900" spc="-19" dirty="0">
                <a:solidFill>
                  <a:srgbClr val="F5F7FA">
                    <a:alpha val="92000"/>
                  </a:srgbClr>
                </a:solidFill>
                <a:latin typeface="Inter"/>
                <a:cs typeface="Inter"/>
              </a:rPr>
            </a:br>
            <a:r>
              <a:rPr lang="en-US" sz="1900" spc="-19" dirty="0">
                <a:solidFill>
                  <a:srgbClr val="F5F7FA">
                    <a:alpha val="92000"/>
                  </a:srgbClr>
                </a:solidFill>
                <a:latin typeface="Inter"/>
                <a:cs typeface="Inter"/>
              </a:rPr>
              <a:t>El Niño season</a:t>
            </a:r>
          </a:p>
        </p:txBody>
      </p:sp>
      <p:sp>
        <p:nvSpPr>
          <p:cNvPr id="17" name="first_bg"/>
          <p:cNvSpPr/>
          <p:nvPr/>
        </p:nvSpPr>
        <p:spPr>
          <a:xfrm>
            <a:off x="609600" y="5016500"/>
            <a:ext cx="10972800" cy="889000"/>
          </a:xfrm>
          <a:prstGeom prst="roundRect">
            <a:avLst>
              <a:gd name="adj" fmla="val 12857"/>
            </a:avLst>
          </a:prstGeom>
          <a:solidFill>
            <a:srgbClr val="FFB224">
              <a:alpha val="10000"/>
            </a:srgbClr>
          </a:solidFill>
          <a:ln w="12700">
            <a:solidFill>
              <a:srgbClr val="FFB224">
                <a:alpha val="80000"/>
              </a:srgbClr>
            </a:solidFill>
          </a:ln>
        </p:spPr>
      </p:sp>
      <p:sp>
        <p:nvSpPr>
          <p:cNvPr id="18" name="first"/>
          <p:cNvSpPr txBox="1"/>
          <p:nvPr/>
        </p:nvSpPr>
        <p:spPr>
          <a:xfrm>
            <a:off x="914400" y="5257800"/>
            <a:ext cx="10414000" cy="419100"/>
          </a:xfrm>
          <a:prstGeom prst="rect">
            <a:avLst/>
          </a:prstGeom>
          <a:noFill/>
        </p:spPr>
        <p:txBody>
          <a:bodyPr wrap="none" lIns="0" tIns="0" rIns="0" bIns="0" anchor="t">
            <a:noAutofit/>
          </a:bodyPr>
          <a:lstStyle/>
          <a:p>
            <a:pPr algn="l">
              <a:lnSpc>
                <a:spcPct val="95041"/>
              </a:lnSpc>
              <a:spcBef>
                <a:spcPts val="0"/>
              </a:spcBef>
            </a:pPr>
            <a:r>
              <a:rPr lang="en-US" sz="2400" b="1" spc="-29" dirty="0">
                <a:solidFill>
                  <a:srgbClr val="F5F7FA"/>
                </a:solidFill>
                <a:latin typeface="Inter"/>
                <a:cs typeface="Inter"/>
              </a:rPr>
              <a:t>Before any real use: close the gap on never-seen tests.</a:t>
            </a:r>
          </a:p>
        </p:txBody>
      </p:sp>
      <p:sp>
        <p:nvSpPr>
          <p:cNvPr id="19" name="source"/>
          <p:cNvSpPr txBox="1"/>
          <p:nvPr/>
        </p:nvSpPr>
        <p:spPr>
          <a:xfrm>
            <a:off x="609600" y="6489700"/>
            <a:ext cx="10414000" cy="241300"/>
          </a:xfrm>
          <a:prstGeom prst="rect">
            <a:avLst/>
          </a:prstGeom>
          <a:noFill/>
        </p:spPr>
        <p:txBody>
          <a:bodyPr wrap="none" lIns="0" tIns="0" rIns="0" bIns="0" anchor="t">
            <a:noAutofit/>
          </a:bodyPr>
          <a:lstStyle/>
          <a:p>
            <a:pPr algn="l">
              <a:lnSpc>
                <a:spcPct val="95041"/>
              </a:lnSpc>
              <a:spcBef>
                <a:spcPts val="0"/>
              </a:spcBef>
            </a:pPr>
            <a:r>
              <a:rPr lang="en-US" sz="1300" spc="0" dirty="0">
                <a:solidFill>
                  <a:srgbClr val="F5F7FA">
                    <a:alpha val="92000"/>
                  </a:srgbClr>
                </a:solidFill>
                <a:latin typeface="Inter Medium"/>
                <a:cs typeface="Inter Medium"/>
              </a:rPr>
              <a:t>Roadmap: repository README · call transcripts are text input today; no speech recognition is built</a:t>
            </a:r>
          </a:p>
        </p:txBody>
      </p:sp>
      <p:sp>
        <p:nvSpPr>
          <p:cNvPr id="20"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pic>
        <p:nvPicPr>
          <p:cNvPr id="3" name="photo_s11"/>
          <p:cNvPicPr>
            <a:picLocks noChangeAspect="1"/>
          </p:cNvPicPr>
          <p:nvPr/>
        </p:nvPicPr>
        <p:blipFill>
          <a:blip r:embed="rId2"/>
          <a:stretch>
            <a:fillRect/>
          </a:stretch>
        </p:blipFill>
        <p:spPr>
          <a:xfrm>
            <a:off x="0" y="0"/>
            <a:ext cx="12192000" cy="6858000"/>
          </a:xfrm>
          <a:prstGeom prst="rect">
            <a:avLst/>
          </a:prstGeom>
        </p:spPr>
      </p:pic>
      <p:sp>
        <p:nvSpPr>
          <p:cNvPr id="4" name="photo_s11_band"/>
          <p:cNvSpPr/>
          <p:nvPr/>
        </p:nvSpPr>
        <p:spPr>
          <a:xfrm>
            <a:off x="0" y="0"/>
            <a:ext cx="12192000" cy="6858000"/>
          </a:xfrm>
          <a:prstGeom prst="rect">
            <a:avLst/>
          </a:prstGeom>
          <a:gradFill rotWithShape="1">
            <a:gsLst>
              <a:gs pos="0">
                <a:srgbClr val="05080C">
                  <a:alpha val="86000"/>
                </a:srgbClr>
              </a:gs>
              <a:gs pos="36000">
                <a:srgbClr val="05080C">
                  <a:alpha val="62000"/>
                </a:srgbClr>
              </a:gs>
              <a:gs pos="62000">
                <a:srgbClr val="05080C">
                  <a:alpha val="0"/>
                </a:srgbClr>
              </a:gs>
            </a:gsLst>
            <a:lin ang="0" scaled="0"/>
          </a:gradFill>
          <a:ln>
            <a:noFill/>
          </a:ln>
        </p:spPr>
      </p:sp>
      <p:sp>
        <p:nvSpPr>
          <p:cNvPr id="5" name="scrim_top"/>
          <p:cNvSpPr/>
          <p:nvPr/>
        </p:nvSpPr>
        <p:spPr>
          <a:xfrm>
            <a:off x="0" y="0"/>
            <a:ext cx="12192000" cy="3810000"/>
          </a:xfrm>
          <a:prstGeom prst="rect">
            <a:avLst/>
          </a:prstGeom>
          <a:gradFill rotWithShape="1">
            <a:gsLst>
              <a:gs pos="0">
                <a:srgbClr val="05080C">
                  <a:alpha val="95000"/>
                </a:srgbClr>
              </a:gs>
              <a:gs pos="60000">
                <a:srgbClr val="05080C">
                  <a:alpha val="82000"/>
                </a:srgbClr>
              </a:gs>
              <a:gs pos="100000">
                <a:srgbClr val="05080C">
                  <a:alpha val="0"/>
                </a:srgbClr>
              </a:gs>
            </a:gsLst>
            <a:lin ang="5400000" scaled="0"/>
          </a:gradFill>
          <a:ln>
            <a:noFill/>
          </a:ln>
        </p:spPr>
      </p:sp>
      <p:sp>
        <p:nvSpPr>
          <p:cNvPr id="6" name="headline"/>
          <p:cNvSpPr txBox="1"/>
          <p:nvPr/>
        </p:nvSpPr>
        <p:spPr>
          <a:xfrm>
            <a:off x="609600" y="444500"/>
            <a:ext cx="8255000" cy="1123950"/>
          </a:xfrm>
          <a:prstGeom prst="rect">
            <a:avLst/>
          </a:prstGeom>
          <a:noFill/>
        </p:spPr>
        <p:txBody>
          <a:bodyPr wrap="none" lIns="0" tIns="0" rIns="0" bIns="0" anchor="t">
            <a:noAutofit/>
          </a:bodyPr>
          <a:lstStyle/>
          <a:p>
            <a:pPr algn="l">
              <a:lnSpc>
                <a:spcPct val="87603"/>
              </a:lnSpc>
              <a:spcBef>
                <a:spcPts val="0"/>
              </a:spcBef>
            </a:pPr>
            <a:r>
              <a:rPr lang="en-US" sz="3800" b="1" spc="-46" dirty="0">
                <a:solidFill>
                  <a:srgbClr val="F5F7FA"/>
                </a:solidFill>
                <a:latin typeface="Inter Display"/>
                <a:cs typeface="Inter Display"/>
              </a:rPr>
              <a:t>Every request heard.</a:t>
            </a:r>
            <a:br>
              <a:rPr lang="en-US" sz="3800" b="1" spc="-46" dirty="0">
                <a:solidFill>
                  <a:srgbClr val="F5F7FA"/>
                </a:solidFill>
                <a:latin typeface="Inter Display"/>
                <a:cs typeface="Inter Display"/>
              </a:rPr>
            </a:br>
            <a:r>
              <a:rPr lang="en-US" sz="3800" b="1" spc="-46" dirty="0">
                <a:solidFill>
                  <a:srgbClr val="F5F7FA"/>
                </a:solidFill>
                <a:latin typeface="Inter Display"/>
                <a:cs typeface="Inter Display"/>
              </a:rPr>
              <a:t>Every agent working together.</a:t>
            </a:r>
          </a:p>
        </p:txBody>
      </p:sp>
      <p:sp>
        <p:nvSpPr>
          <p:cNvPr id="7" name="close2"/>
          <p:cNvSpPr txBox="1"/>
          <p:nvPr/>
        </p:nvSpPr>
        <p:spPr>
          <a:xfrm>
            <a:off x="609600" y="1663700"/>
            <a:ext cx="8255000" cy="889000"/>
          </a:xfrm>
          <a:prstGeom prst="rect">
            <a:avLst/>
          </a:prstGeom>
          <a:noFill/>
        </p:spPr>
        <p:txBody>
          <a:bodyPr wrap="none" lIns="0" tIns="0" rIns="0" bIns="0" anchor="t">
            <a:noAutofit/>
          </a:bodyPr>
          <a:lstStyle/>
          <a:p>
            <a:pPr algn="l">
              <a:lnSpc>
                <a:spcPct val="97521"/>
              </a:lnSpc>
              <a:spcBef>
                <a:spcPts val="0"/>
              </a:spcBef>
            </a:pPr>
            <a:r>
              <a:rPr lang="en-US" sz="2600" spc="-31" dirty="0">
                <a:solidFill>
                  <a:srgbClr val="F5F7FA"/>
                </a:solidFill>
                <a:latin typeface="Inter SemiBold"/>
                <a:cs typeface="Inter SemiBold"/>
              </a:rPr>
              <a:t>When the next flood comes,</a:t>
            </a:r>
            <a:br>
              <a:rPr lang="en-US" sz="2600" spc="-31" dirty="0">
                <a:solidFill>
                  <a:srgbClr val="F5F7FA"/>
                </a:solidFill>
                <a:latin typeface="Inter SemiBold"/>
                <a:cs typeface="Inter SemiBold"/>
              </a:rPr>
            </a:br>
            <a:r>
              <a:rPr lang="en-US" sz="2600" spc="-31" dirty="0">
                <a:solidFill>
                  <a:srgbClr val="F5F7FA"/>
                </a:solidFill>
                <a:latin typeface="Inter SemiBold"/>
                <a:cs typeface="Inter SemiBold"/>
              </a:rPr>
              <a:t>no call for help gets lost.</a:t>
            </a:r>
          </a:p>
        </p:txBody>
      </p:sp>
      <p:sp>
        <p:nvSpPr>
          <p:cNvPr id="8" name="band_fade"/>
          <p:cNvSpPr/>
          <p:nvPr/>
        </p:nvSpPr>
        <p:spPr>
          <a:xfrm>
            <a:off x="0" y="3937000"/>
            <a:ext cx="12192000" cy="1016000"/>
          </a:xfrm>
          <a:prstGeom prst="rect">
            <a:avLst/>
          </a:prstGeom>
          <a:gradFill rotWithShape="1">
            <a:gsLst>
              <a:gs pos="0">
                <a:srgbClr val="0B0F14">
                  <a:alpha val="0"/>
                </a:srgbClr>
              </a:gs>
              <a:gs pos="100000">
                <a:srgbClr val="0B0F14">
                  <a:alpha val="96000"/>
                </a:srgbClr>
              </a:gs>
            </a:gsLst>
            <a:lin ang="5400000" scaled="0"/>
          </a:gradFill>
          <a:ln>
            <a:noFill/>
          </a:ln>
        </p:spPr>
      </p:sp>
      <p:sp>
        <p:nvSpPr>
          <p:cNvPr id="9" name="band"/>
          <p:cNvSpPr/>
          <p:nvPr/>
        </p:nvSpPr>
        <p:spPr>
          <a:xfrm>
            <a:off x="0" y="4953000"/>
            <a:ext cx="12192000" cy="1905000"/>
          </a:xfrm>
          <a:prstGeom prst="rect">
            <a:avLst/>
          </a:prstGeom>
          <a:solidFill>
            <a:srgbClr val="0B0F14">
              <a:alpha val="96000"/>
            </a:srgbClr>
          </a:solidFill>
          <a:ln>
            <a:noFill/>
          </a:ln>
        </p:spPr>
      </p:sp>
      <p:sp>
        <p:nvSpPr>
          <p:cNvPr id="10" name="arca"/>
          <p:cNvSpPr txBox="1"/>
          <p:nvPr/>
        </p:nvSpPr>
        <p:spPr>
          <a:xfrm>
            <a:off x="571500" y="5016500"/>
            <a:ext cx="3556000" cy="1206500"/>
          </a:xfrm>
          <a:prstGeom prst="rect">
            <a:avLst/>
          </a:prstGeom>
          <a:noFill/>
        </p:spPr>
        <p:txBody>
          <a:bodyPr wrap="none" lIns="0" tIns="0" rIns="0" bIns="0" anchor="t">
            <a:noAutofit/>
          </a:bodyPr>
          <a:lstStyle/>
          <a:p>
            <a:pPr algn="l">
              <a:lnSpc>
                <a:spcPct val="82645"/>
              </a:lnSpc>
              <a:spcBef>
                <a:spcPts val="0"/>
              </a:spcBef>
            </a:pPr>
            <a:r>
              <a:rPr lang="en-US" sz="8500" b="1" spc="-102" dirty="0">
                <a:solidFill>
                  <a:srgbClr val="F5F7FA"/>
                </a:solidFill>
                <a:latin typeface="Inter Display"/>
                <a:cs typeface="Inter Display"/>
              </a:rPr>
              <a:t>Arca</a:t>
            </a:r>
          </a:p>
        </p:txBody>
      </p:sp>
      <p:sp>
        <p:nvSpPr>
          <p:cNvPr id="11" name="qr_bg"/>
          <p:cNvSpPr/>
          <p:nvPr/>
        </p:nvSpPr>
        <p:spPr>
          <a:xfrm>
            <a:off x="3810000" y="5118100"/>
            <a:ext cx="1117600" cy="1117600"/>
          </a:xfrm>
          <a:prstGeom prst="roundRect">
            <a:avLst>
              <a:gd name="adj" fmla="val 5682"/>
            </a:avLst>
          </a:prstGeom>
          <a:solidFill>
            <a:srgbClr val="FFFFFF"/>
          </a:solidFill>
          <a:ln>
            <a:noFill/>
          </a:ln>
        </p:spPr>
      </p:sp>
      <p:pic>
        <p:nvPicPr>
          <p:cNvPr id="12" name="qr"/>
          <p:cNvPicPr>
            <a:picLocks noChangeAspect="1"/>
          </p:cNvPicPr>
          <p:nvPr/>
        </p:nvPicPr>
        <p:blipFill>
          <a:blip r:embed="rId3"/>
          <a:stretch>
            <a:fillRect/>
          </a:stretch>
        </p:blipFill>
        <p:spPr>
          <a:xfrm>
            <a:off x="3873500" y="5181600"/>
            <a:ext cx="990600" cy="990600"/>
          </a:xfrm>
          <a:prstGeom prst="rect">
            <a:avLst/>
          </a:prstGeom>
        </p:spPr>
      </p:pic>
      <p:sp>
        <p:nvSpPr>
          <p:cNvPr id="13" name="ask"/>
          <p:cNvSpPr txBox="1"/>
          <p:nvPr/>
        </p:nvSpPr>
        <p:spPr>
          <a:xfrm>
            <a:off x="5181600" y="5156200"/>
            <a:ext cx="6400800" cy="3175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FB224"/>
                </a:solidFill>
                <a:latin typeface="Inter"/>
                <a:cs typeface="Inter"/>
              </a:rPr>
              <a:t>Help us pilot it with Defesa Civil before the next El Niño.</a:t>
            </a:r>
          </a:p>
        </p:txBody>
      </p:sp>
      <p:sp>
        <p:nvSpPr>
          <p:cNvPr id="14" name="repo"/>
          <p:cNvSpPr txBox="1"/>
          <p:nvPr/>
        </p:nvSpPr>
        <p:spPr>
          <a:xfrm>
            <a:off x="5181600" y="5549900"/>
            <a:ext cx="6400800" cy="292100"/>
          </a:xfrm>
          <a:prstGeom prst="rect">
            <a:avLst/>
          </a:prstGeom>
          <a:noFill/>
        </p:spPr>
        <p:txBody>
          <a:bodyPr wrap="none" lIns="0" tIns="0" rIns="0" bIns="0" anchor="t">
            <a:noAutofit/>
          </a:bodyPr>
          <a:lstStyle/>
          <a:p>
            <a:pPr algn="l">
              <a:lnSpc>
                <a:spcPct val="95041"/>
              </a:lnSpc>
              <a:spcBef>
                <a:spcPts val="0"/>
              </a:spcBef>
            </a:pPr>
            <a:r>
              <a:rPr lang="en-US" sz="1700" b="1" spc="-17" dirty="0">
                <a:solidFill>
                  <a:srgbClr val="F5F7FA"/>
                </a:solidFill>
                <a:latin typeface="Inter"/>
                <a:cs typeface="Inter"/>
              </a:rPr>
              <a:t>github.com/LamboKiller/rescue-triage-desk</a:t>
            </a:r>
          </a:p>
        </p:txBody>
      </p:sp>
      <p:sp>
        <p:nvSpPr>
          <p:cNvPr id="15" name="team"/>
          <p:cNvSpPr txBox="1"/>
          <p:nvPr/>
        </p:nvSpPr>
        <p:spPr>
          <a:xfrm>
            <a:off x="5181600" y="5905500"/>
            <a:ext cx="6400800" cy="254000"/>
          </a:xfrm>
          <a:prstGeom prst="rect">
            <a:avLst/>
          </a:prstGeom>
          <a:noFill/>
        </p:spPr>
        <p:txBody>
          <a:bodyPr wrap="none" lIns="0" tIns="0" rIns="0" bIns="0" anchor="t">
            <a:noAutofit/>
          </a:bodyPr>
          <a:lstStyle/>
          <a:p>
            <a:pPr algn="l">
              <a:lnSpc>
                <a:spcPct val="95041"/>
              </a:lnSpc>
              <a:spcBef>
                <a:spcPts val="0"/>
              </a:spcBef>
            </a:pPr>
            <a:r>
              <a:rPr lang="en-US" sz="1400" spc="0" dirty="0">
                <a:solidFill>
                  <a:srgbClr val="F5F7FA">
                    <a:alpha val="90000"/>
                  </a:srgbClr>
                </a:solidFill>
                <a:latin typeface="Inter Medium"/>
                <a:cs typeface="Inter Medium"/>
              </a:rPr>
              <a:t>Team Orbital · code, evaluations and this deck, open source</a:t>
            </a:r>
          </a:p>
        </p:txBody>
      </p:sp>
      <p:sp>
        <p:nvSpPr>
          <p:cNvPr id="16" name="source"/>
          <p:cNvSpPr txBox="1"/>
          <p:nvPr/>
        </p:nvSpPr>
        <p:spPr>
          <a:xfrm>
            <a:off x="5181600" y="6489700"/>
            <a:ext cx="5969000" cy="228600"/>
          </a:xfrm>
          <a:prstGeom prst="rect">
            <a:avLst/>
          </a:prstGeom>
          <a:noFill/>
        </p:spPr>
        <p:txBody>
          <a:bodyPr wrap="none" lIns="0" tIns="0" rIns="0" bIns="0" anchor="t">
            <a:noAutofit/>
          </a:bodyPr>
          <a:lstStyle/>
          <a:p>
            <a:pPr algn="l">
              <a:lnSpc>
                <a:spcPct val="95041"/>
              </a:lnSpc>
              <a:spcBef>
                <a:spcPts val="0"/>
              </a:spcBef>
            </a:pPr>
            <a:r>
              <a:rPr lang="en-US" sz="1200" spc="0" dirty="0">
                <a:solidFill>
                  <a:srgbClr val="F5F7FA">
                    <a:alpha val="85000"/>
                  </a:srgbClr>
                </a:solidFill>
                <a:latin typeface="Inter Medium"/>
                <a:cs typeface="Inter Medium"/>
              </a:rPr>
              <a:t>Photo: Colônia Z-3, Pelotas, 31 May 2024 · G. Vara / Pref. de Pelotas · public domain</a:t>
            </a:r>
          </a:p>
        </p:txBody>
      </p:sp>
      <p:sp>
        <p:nvSpPr>
          <p:cNvPr id="17"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3" name="bg"/>
          <p:cNvSpPr/>
          <p:nvPr/>
        </p:nvSpPr>
        <p:spPr>
          <a:xfrm>
            <a:off x="0" y="0"/>
            <a:ext cx="12192000" cy="6858000"/>
          </a:xfrm>
          <a:prstGeom prst="rect">
            <a:avLst/>
          </a:prstGeom>
          <a:solidFill>
            <a:srgbClr val="0B0F14"/>
          </a:solidFill>
          <a:ln>
            <a:noFill/>
          </a:ln>
        </p:spPr>
      </p:sp>
      <p:sp>
        <p:nvSpPr>
          <p:cNvPr id="4" name="headline"/>
          <p:cNvSpPr txBox="1"/>
          <p:nvPr/>
        </p:nvSpPr>
        <p:spPr>
          <a:xfrm>
            <a:off x="609600" y="508000"/>
            <a:ext cx="10972800" cy="508000"/>
          </a:xfrm>
          <a:prstGeom prst="rect">
            <a:avLst/>
          </a:prstGeom>
          <a:noFill/>
        </p:spPr>
        <p:txBody>
          <a:bodyPr wrap="none" lIns="0" tIns="0" rIns="0" bIns="0" anchor="t">
            <a:noAutofit/>
          </a:bodyPr>
          <a:lstStyle/>
          <a:p>
            <a:pPr algn="l">
              <a:lnSpc>
                <a:spcPct val="87603"/>
              </a:lnSpc>
              <a:spcBef>
                <a:spcPts val="0"/>
              </a:spcBef>
            </a:pPr>
            <a:r>
              <a:rPr lang="en-US" sz="3200" b="1" spc="-38" dirty="0">
                <a:solidFill>
                  <a:srgbClr val="F5F7FA"/>
                </a:solidFill>
                <a:latin typeface="Inter Display"/>
                <a:cs typeface="Inter Display"/>
              </a:rPr>
              <a:t>Appendix · Sources &amp; credits</a:t>
            </a:r>
          </a:p>
        </p:txBody>
      </p:sp>
      <p:sp>
        <p:nvSpPr>
          <p:cNvPr id="5" name="src_left"/>
          <p:cNvSpPr txBox="1"/>
          <p:nvPr/>
        </p:nvSpPr>
        <p:spPr>
          <a:xfrm>
            <a:off x="609600" y="1460500"/>
            <a:ext cx="5715000" cy="4572000"/>
          </a:xfrm>
          <a:prstGeom prst="rect">
            <a:avLst/>
          </a:prstGeom>
          <a:noFill/>
        </p:spPr>
        <p:txBody>
          <a:bodyPr wrap="none" lIns="0" tIns="0" rIns="0" bIns="0" anchor="t">
            <a:noAutofit/>
          </a:bodyPr>
          <a:lstStyle/>
          <a:p>
            <a:pPr algn="l">
              <a:lnSpc>
                <a:spcPct val="95041"/>
              </a:lnSpc>
              <a:spcBef>
                <a:spcPts val="0"/>
              </a:spcBef>
            </a:pPr>
            <a:r>
              <a:rPr lang="en-US" sz="1500" b="1" spc="0" dirty="0">
                <a:solidFill>
                  <a:srgbClr val="FFB224"/>
                </a:solidFill>
                <a:latin typeface="Inter"/>
                <a:cs typeface="Inter"/>
              </a:rPr>
              <a:t>Numbers</a:t>
            </a:r>
          </a:p>
          <a:p>
            <a:pPr algn="l">
              <a:lnSpc>
                <a:spcPct val="107438"/>
              </a:lnSpc>
              <a:spcBef>
                <a:spcPts val="1050"/>
              </a:spcBef>
            </a:pPr>
            <a:r>
              <a:rPr lang="en-US" sz="1200" spc="0" dirty="0">
                <a:solidFill>
                  <a:srgbClr val="F5F7FA">
                    <a:alpha val="95000"/>
                  </a:srgbClr>
                </a:solidFill>
                <a:latin typeface="Inter"/>
                <a:cs typeface="Inter"/>
              </a:rPr>
              <a:t>185 deaths · 478 of 497 municipalities · 2,398,255 affected</a:t>
            </a:r>
          </a:p>
          <a:p>
            <a:pPr algn="l">
              <a:lnSpc>
                <a:spcPct val="107438"/>
              </a:lnSpc>
              <a:spcBef>
                <a:spcPts val="0"/>
              </a:spcBef>
            </a:pPr>
            <a:r>
              <a:rPr lang="en-US" sz="1200" spc="0" dirty="0">
                <a:solidFill>
                  <a:srgbClr val="F5F7FA">
                    <a:alpha val="72000"/>
                  </a:srgbClr>
                </a:solidFill>
                <a:latin typeface="Inter"/>
                <a:cs typeface="Inter"/>
              </a:rPr>
              <a:t>Defesa Civil RS final bulletin, 19 Aug 2025 (sosenchentes.rs.gov.br); IPEA</a:t>
            </a:r>
          </a:p>
          <a:p>
            <a:pPr algn="l">
              <a:lnSpc>
                <a:spcPct val="107438"/>
              </a:lnSpc>
              <a:spcBef>
                <a:spcPts val="1050"/>
              </a:spcBef>
            </a:pPr>
            <a:r>
              <a:rPr lang="en-US" sz="1200" spc="0" dirty="0">
                <a:solidFill>
                  <a:srgbClr val="F5F7FA">
                    <a:alpha val="95000"/>
                  </a:srgbClr>
                </a:solidFill>
                <a:latin typeface="Inter"/>
                <a:cs typeface="Inter"/>
              </a:rPr>
              <a:t>Over 77,000 rescued (77,729 on 30 May 2024)</a:t>
            </a:r>
          </a:p>
          <a:p>
            <a:pPr algn="l">
              <a:lnSpc>
                <a:spcPct val="107438"/>
              </a:lnSpc>
              <a:spcBef>
                <a:spcPts val="0"/>
              </a:spcBef>
            </a:pPr>
            <a:r>
              <a:rPr lang="en-US" sz="1200" spc="0" dirty="0">
                <a:solidFill>
                  <a:srgbClr val="F5F7FA">
                    <a:alpha val="72000"/>
                  </a:srgbClr>
                </a:solidFill>
                <a:latin typeface="Inter"/>
                <a:cs typeface="Inter"/>
              </a:rPr>
              <a:t>Defesa Civil RS bulletin, 30 May 2024</a:t>
            </a:r>
          </a:p>
          <a:p>
            <a:pPr algn="l">
              <a:lnSpc>
                <a:spcPct val="107438"/>
              </a:lnSpc>
              <a:spcBef>
                <a:spcPts val="1050"/>
              </a:spcBef>
            </a:pPr>
            <a:r>
              <a:rPr lang="en-US" sz="1200" spc="0" dirty="0">
                <a:solidFill>
                  <a:srgbClr val="F5F7FA">
                    <a:alpha val="95000"/>
                  </a:srgbClr>
                </a:solidFill>
                <a:latin typeface="Inter"/>
                <a:cs typeface="Inter"/>
              </a:rPr>
              <a:t>Guaíba 5.35 m (5 May 2024); 1941 record 4.76 m</a:t>
            </a:r>
          </a:p>
          <a:p>
            <a:pPr algn="l">
              <a:lnSpc>
                <a:spcPct val="107438"/>
              </a:lnSpc>
              <a:spcBef>
                <a:spcPts val="0"/>
              </a:spcBef>
            </a:pPr>
            <a:r>
              <a:rPr lang="en-US" sz="1200" spc="0" dirty="0">
                <a:solidFill>
                  <a:srgbClr val="F5F7FA">
                    <a:alpha val="72000"/>
                  </a:srgbClr>
                </a:solidFill>
                <a:latin typeface="Inter"/>
                <a:cs typeface="Inter"/>
              </a:rPr>
              <a:t>G1; Serviço Geológico do Brasil</a:t>
            </a:r>
          </a:p>
          <a:p>
            <a:pPr algn="l">
              <a:lnSpc>
                <a:spcPct val="107438"/>
              </a:lnSpc>
              <a:spcBef>
                <a:spcPts val="1050"/>
              </a:spcBef>
            </a:pPr>
            <a:r>
              <a:rPr lang="en-US" sz="1200" spc="0" dirty="0">
                <a:solidFill>
                  <a:srgbClr val="F5F7FA">
                    <a:alpha val="95000"/>
                  </a:srgbClr>
                </a:solidFill>
                <a:latin typeface="Inter"/>
                <a:cs typeface="Inter"/>
              </a:rPr>
              <a:t>Channels: Exame; Agência Lupa</a:t>
            </a:r>
          </a:p>
          <a:p>
            <a:pPr algn="l">
              <a:lnSpc>
                <a:spcPct val="107438"/>
              </a:lnSpc>
              <a:spcBef>
                <a:spcPts val="1050"/>
              </a:spcBef>
            </a:pPr>
            <a:r>
              <a:rPr lang="en-US" sz="1200" spc="0" dirty="0">
                <a:solidFill>
                  <a:srgbClr val="F5F7FA">
                    <a:alpha val="95000"/>
                  </a:srgbClr>
                </a:solidFill>
                <a:latin typeface="Inter"/>
                <a:cs typeface="Inter"/>
              </a:rPr>
              <a:t>&gt;83 % strong-to-very-strong El Niño, Jan–Mar 2027</a:t>
            </a:r>
          </a:p>
          <a:p>
            <a:pPr algn="l">
              <a:lnSpc>
                <a:spcPct val="107438"/>
              </a:lnSpc>
              <a:spcBef>
                <a:spcPts val="0"/>
              </a:spcBef>
            </a:pPr>
            <a:r>
              <a:rPr lang="en-US" sz="1200" spc="0" dirty="0">
                <a:solidFill>
                  <a:srgbClr val="F5F7FA">
                    <a:alpha val="72000"/>
                  </a:srgbClr>
                </a:solidFill>
                <a:latin typeface="Inter"/>
                <a:cs typeface="Inter"/>
              </a:rPr>
              <a:t>NOAA CPC ENSO discussion, 8 Oct 2026</a:t>
            </a:r>
          </a:p>
          <a:p>
            <a:pPr algn="l">
              <a:lnSpc>
                <a:spcPct val="107438"/>
              </a:lnSpc>
              <a:spcBef>
                <a:spcPts val="1050"/>
              </a:spcBef>
            </a:pPr>
            <a:r>
              <a:rPr lang="en-US" sz="1200" spc="0" dirty="0">
                <a:solidFill>
                  <a:srgbClr val="F5F7FA">
                    <a:alpha val="95000"/>
                  </a:srgbClr>
                </a:solidFill>
                <a:latin typeface="Inter"/>
                <a:cs typeface="Inter"/>
              </a:rPr>
              <a:t>Dev 29/30 (was 19/30), 11.3 s (was 46.7 s): live, 27 Oct 2026</a:t>
            </a:r>
          </a:p>
          <a:p>
            <a:pPr algn="l">
              <a:lnSpc>
                <a:spcPct val="107438"/>
              </a:lnSpc>
              <a:spcBef>
                <a:spcPts val="1050"/>
              </a:spcBef>
            </a:pPr>
            <a:r>
              <a:rPr lang="en-US" sz="1200" spc="0" dirty="0">
                <a:solidFill>
                  <a:srgbClr val="F5F7FA">
                    <a:alpha val="95000"/>
                  </a:srgbClr>
                </a:solidFill>
                <a:latin typeface="Inter"/>
                <a:cs typeface="Inter"/>
              </a:rPr>
              <a:t>Red team 42/42: offline attack set</a:t>
            </a:r>
          </a:p>
          <a:p>
            <a:pPr algn="l">
              <a:lnSpc>
                <a:spcPct val="107438"/>
              </a:lnSpc>
              <a:spcBef>
                <a:spcPts val="1050"/>
              </a:spcBef>
            </a:pPr>
            <a:r>
              <a:rPr lang="en-US" sz="1200" spc="0" dirty="0">
                <a:solidFill>
                  <a:srgbClr val="F5F7FA">
                    <a:alpha val="95000"/>
                  </a:srgbClr>
                </a:solidFill>
                <a:latin typeface="Inter"/>
                <a:cs typeface="Inter"/>
              </a:rPr>
              <a:t>Blind A 34/50, 3 unsafe · Blind B 29/50, 3 unsafe (94/100 safe)</a:t>
            </a:r>
          </a:p>
          <a:p>
            <a:pPr algn="l">
              <a:lnSpc>
                <a:spcPct val="107438"/>
              </a:lnSpc>
              <a:spcBef>
                <a:spcPts val="0"/>
              </a:spcBef>
            </a:pPr>
            <a:r>
              <a:rPr lang="en-US" sz="1200" spc="0" dirty="0">
                <a:solidFill>
                  <a:srgbClr val="F5F7FA">
                    <a:alpha val="72000"/>
                  </a:srgbClr>
                </a:solidFill>
                <a:latin typeface="Inter"/>
                <a:cs typeface="Inter"/>
              </a:rPr>
              <a:t>live, run once, commit 6ba4233</a:t>
            </a:r>
          </a:p>
          <a:p>
            <a:pPr algn="l">
              <a:lnSpc>
                <a:spcPct val="107438"/>
              </a:lnSpc>
              <a:spcBef>
                <a:spcPts val="1050"/>
              </a:spcBef>
            </a:pPr>
            <a:r>
              <a:rPr lang="en-US" sz="1200" spc="0" dirty="0">
                <a:solidFill>
                  <a:srgbClr val="F5F7FA">
                    <a:alpha val="95000"/>
                  </a:srgbClr>
                </a:solidFill>
                <a:latin typeface="Inter"/>
                <a:cs typeface="Inter"/>
              </a:rPr>
              <a:t>28 agents and loops = 19 model agents + 9 operational loops</a:t>
            </a:r>
          </a:p>
          <a:p>
            <a:pPr algn="l">
              <a:lnSpc>
                <a:spcPct val="107438"/>
              </a:lnSpc>
              <a:spcBef>
                <a:spcPts val="0"/>
              </a:spcBef>
            </a:pPr>
            <a:r>
              <a:rPr lang="en-US" sz="1200" spc="0" dirty="0">
                <a:solidFill>
                  <a:srgbClr val="F5F7FA">
                    <a:alpha val="72000"/>
                  </a:srgbClr>
                </a:solidFill>
                <a:latin typeface="Inter"/>
                <a:cs typeface="Inter"/>
              </a:rPr>
              <a:t>agents_roster.json</a:t>
            </a:r>
          </a:p>
        </p:txBody>
      </p:sp>
      <p:sp>
        <p:nvSpPr>
          <p:cNvPr id="6" name="src_right"/>
          <p:cNvSpPr txBox="1"/>
          <p:nvPr/>
        </p:nvSpPr>
        <p:spPr>
          <a:xfrm>
            <a:off x="6858000" y="1460500"/>
            <a:ext cx="4724400" cy="4572000"/>
          </a:xfrm>
          <a:prstGeom prst="rect">
            <a:avLst/>
          </a:prstGeom>
          <a:noFill/>
        </p:spPr>
        <p:txBody>
          <a:bodyPr wrap="none" lIns="0" tIns="0" rIns="0" bIns="0" anchor="t">
            <a:noAutofit/>
          </a:bodyPr>
          <a:lstStyle/>
          <a:p>
            <a:pPr algn="l">
              <a:lnSpc>
                <a:spcPct val="95041"/>
              </a:lnSpc>
              <a:spcBef>
                <a:spcPts val="0"/>
              </a:spcBef>
            </a:pPr>
            <a:r>
              <a:rPr lang="en-US" sz="1500" b="1" spc="0" dirty="0">
                <a:solidFill>
                  <a:srgbClr val="FFB224"/>
                </a:solidFill>
                <a:latin typeface="Inter"/>
                <a:cs typeface="Inter"/>
              </a:rPr>
              <a:t>Photographs (Wikimedia Commons)</a:t>
            </a:r>
          </a:p>
          <a:p>
            <a:pPr algn="l">
              <a:lnSpc>
                <a:spcPct val="107438"/>
              </a:lnSpc>
              <a:spcBef>
                <a:spcPts val="1050"/>
              </a:spcBef>
            </a:pPr>
            <a:r>
              <a:rPr lang="en-US" sz="1200" spc="0" dirty="0">
                <a:solidFill>
                  <a:srgbClr val="F5F7FA">
                    <a:alpha val="95000"/>
                  </a:srgbClr>
                </a:solidFill>
                <a:latin typeface="Inter"/>
                <a:cs typeface="Inter"/>
              </a:rPr>
              <a:t>S1: Resgates, bairro Laranjal (53712679145)</a:t>
            </a:r>
          </a:p>
          <a:p>
            <a:pPr algn="l">
              <a:lnSpc>
                <a:spcPct val="107438"/>
              </a:lnSpc>
              <a:spcBef>
                <a:spcPts val="0"/>
              </a:spcBef>
            </a:pPr>
            <a:r>
              <a:rPr lang="en-US" sz="1200" spc="0" dirty="0">
                <a:solidFill>
                  <a:srgbClr val="F5F7FA">
                    <a:alpha val="72000"/>
                  </a:srgbClr>
                </a:solidFill>
                <a:latin typeface="Inter"/>
                <a:cs typeface="Inter"/>
              </a:rPr>
              <a:t>Michel Corvello / Prefeitura de Pelotas · public domain</a:t>
            </a:r>
          </a:p>
          <a:p>
            <a:pPr algn="l">
              <a:lnSpc>
                <a:spcPct val="107438"/>
              </a:lnSpc>
              <a:spcBef>
                <a:spcPts val="1050"/>
              </a:spcBef>
            </a:pPr>
            <a:r>
              <a:rPr lang="en-US" sz="1200" spc="0" dirty="0">
                <a:solidFill>
                  <a:srgbClr val="F5F7FA">
                    <a:alpha val="95000"/>
                  </a:srgbClr>
                </a:solidFill>
                <a:latin typeface="Inter"/>
                <a:cs typeface="Inter"/>
              </a:rPr>
              <a:t>S3: Resgates, bairro Laranjal (53712420573)</a:t>
            </a:r>
          </a:p>
          <a:p>
            <a:pPr algn="l">
              <a:lnSpc>
                <a:spcPct val="107438"/>
              </a:lnSpc>
              <a:spcBef>
                <a:spcPts val="0"/>
              </a:spcBef>
            </a:pPr>
            <a:r>
              <a:rPr lang="en-US" sz="1200" spc="0" dirty="0">
                <a:solidFill>
                  <a:srgbClr val="F5F7FA">
                    <a:alpha val="72000"/>
                  </a:srgbClr>
                </a:solidFill>
                <a:latin typeface="Inter"/>
                <a:cs typeface="Inter"/>
              </a:rPr>
              <a:t>Michel Corvello / Prefeitura de Pelotas · public domain</a:t>
            </a:r>
          </a:p>
          <a:p>
            <a:pPr algn="l">
              <a:lnSpc>
                <a:spcPct val="107438"/>
              </a:lnSpc>
              <a:spcBef>
                <a:spcPts val="1050"/>
              </a:spcBef>
            </a:pPr>
            <a:r>
              <a:rPr lang="en-US" sz="1200" spc="0" dirty="0">
                <a:solidFill>
                  <a:srgbClr val="F5F7FA">
                    <a:alpha val="95000"/>
                  </a:srgbClr>
                </a:solidFill>
                <a:latin typeface="Inter"/>
                <a:cs typeface="Inter"/>
              </a:rPr>
              <a:t>S11: Missão humanitária, Colônia Z-3 (53761203109)</a:t>
            </a:r>
          </a:p>
          <a:p>
            <a:pPr algn="l">
              <a:lnSpc>
                <a:spcPct val="107438"/>
              </a:lnSpc>
              <a:spcBef>
                <a:spcPts val="0"/>
              </a:spcBef>
            </a:pPr>
            <a:r>
              <a:rPr lang="en-US" sz="1200" spc="0" dirty="0">
                <a:solidFill>
                  <a:srgbClr val="F5F7FA">
                    <a:alpha val="72000"/>
                  </a:srgbClr>
                </a:solidFill>
                <a:latin typeface="Inter"/>
                <a:cs typeface="Inter"/>
              </a:rPr>
              <a:t>Gustavo Vara / Prefeitura de Pelotas · public domain</a:t>
            </a:r>
          </a:p>
          <a:p>
            <a:pPr algn="l">
              <a:lnSpc>
                <a:spcPct val="107438"/>
              </a:lnSpc>
              <a:spcBef>
                <a:spcPts val="1050"/>
              </a:spcBef>
            </a:pPr>
            <a:r>
              <a:rPr lang="en-US" sz="1200" spc="0" dirty="0">
                <a:solidFill>
                  <a:srgbClr val="F5F7FA">
                    <a:alpha val="95000"/>
                  </a:srgbClr>
                </a:solidFill>
                <a:latin typeface="Inter"/>
                <a:cs typeface="Inter"/>
              </a:rPr>
              <a:t>Full URLs: CREDITS.md</a:t>
            </a:r>
          </a:p>
          <a:p>
            <a:pPr algn="l">
              <a:lnSpc>
                <a:spcPct val="107438"/>
              </a:lnSpc>
              <a:spcBef>
                <a:spcPts val="1050"/>
              </a:spcBef>
            </a:pPr>
            <a:r>
              <a:rPr lang="en-US" sz="1200" spc="0" dirty="0">
                <a:solidFill>
                  <a:srgbClr val="F5F7FA">
                    <a:alpha val="95000"/>
                  </a:srgbClr>
                </a:solidFill>
                <a:latin typeface="Inter"/>
                <a:cs typeface="Inter"/>
              </a:rPr>
              <a:t>Product frames: live captures, English UI</a:t>
            </a:r>
          </a:p>
          <a:p>
            <a:pPr algn="l">
              <a:lnSpc>
                <a:spcPct val="107438"/>
              </a:lnSpc>
              <a:spcBef>
                <a:spcPts val="1050"/>
              </a:spcBef>
            </a:pPr>
            <a:r>
              <a:rPr lang="en-US" sz="1200" spc="0" dirty="0">
                <a:solidFill>
                  <a:srgbClr val="F5F7FA">
                    <a:alpha val="95000"/>
                  </a:srgbClr>
                </a:solidFill>
                <a:latin typeface="Inter"/>
                <a:cs typeface="Inter"/>
              </a:rPr>
              <a:t>Map: © OpenStreetMap contributors · Protomaps · MapLibre</a:t>
            </a:r>
          </a:p>
          <a:p>
            <a:pPr algn="l">
              <a:lnSpc>
                <a:spcPct val="107438"/>
              </a:lnSpc>
              <a:spcBef>
                <a:spcPts val="1050"/>
              </a:spcBef>
            </a:pPr>
            <a:r>
              <a:rPr lang="en-US" sz="1200" spc="0" dirty="0">
                <a:solidFill>
                  <a:srgbClr val="F5F7FA">
                    <a:alpha val="95000"/>
                  </a:srgbClr>
                </a:solidFill>
                <a:latin typeface="Inter"/>
                <a:cs typeface="Inter"/>
              </a:rPr>
              <a:t>Logos: NVIDIA, Zetaris official assets</a:t>
            </a:r>
          </a:p>
          <a:p>
            <a:pPr algn="l">
              <a:lnSpc>
                <a:spcPct val="107438"/>
              </a:lnSpc>
              <a:spcBef>
                <a:spcPts val="1050"/>
              </a:spcBef>
            </a:pPr>
            <a:r>
              <a:rPr lang="en-US" sz="1200" spc="0" dirty="0">
                <a:solidFill>
                  <a:srgbClr val="F5F7FA">
                    <a:alpha val="95000"/>
                  </a:srgbClr>
                </a:solidFill>
                <a:latin typeface="Inter"/>
                <a:cs typeface="Inter"/>
              </a:rPr>
              <a:t>Typeface: Inter (OFL)</a:t>
            </a:r>
          </a:p>
          <a:p>
            <a:pPr algn="l">
              <a:lnSpc>
                <a:spcPct val="107438"/>
              </a:lnSpc>
              <a:spcBef>
                <a:spcPts val="1050"/>
              </a:spcBef>
            </a:pPr>
            <a:r>
              <a:rPr lang="en-US" sz="1200" spc="0" dirty="0">
                <a:solidFill>
                  <a:srgbClr val="F5F7FA">
                    <a:alpha val="95000"/>
                  </a:srgbClr>
                </a:solidFill>
                <a:latin typeface="Inter"/>
                <a:cs typeface="Inter"/>
              </a:rPr>
              <a:t>Team Orbital · all work built during the build window</a:t>
            </a:r>
          </a:p>
        </p:txBody>
      </p:sp>
      <p:sp>
        <p:nvSpPr>
          <p:cNvPr id="7" name="honest"/>
          <p:cNvSpPr txBox="1"/>
          <p:nvPr/>
        </p:nvSpPr>
        <p:spPr>
          <a:xfrm>
            <a:off x="609600" y="6464300"/>
            <a:ext cx="10972800" cy="254000"/>
          </a:xfrm>
          <a:prstGeom prst="rect">
            <a:avLst/>
          </a:prstGeom>
          <a:noFill/>
        </p:spPr>
        <p:txBody>
          <a:bodyPr wrap="none" lIns="0" tIns="0" rIns="0" bIns="0" anchor="t">
            <a:noAutofit/>
          </a:bodyPr>
          <a:lstStyle/>
          <a:p>
            <a:pPr algn="l">
              <a:lnSpc>
                <a:spcPct val="95041"/>
              </a:lnSpc>
              <a:spcBef>
                <a:spcPts val="0"/>
              </a:spcBef>
            </a:pPr>
            <a:r>
              <a:rPr lang="en-US" sz="1500" b="1" spc="0" dirty="0">
                <a:solidFill>
                  <a:srgbClr val="FFB224"/>
                </a:solidFill>
                <a:latin typeface="Inter"/>
                <a:cs typeface="Inter"/>
              </a:rPr>
              <a:t>Replay of 6 May 2024. Fleet and GPS simulated. Lives saved shown only as potential.</a:t>
            </a:r>
          </a:p>
        </p:txBody>
      </p:sp>
      <p:sp>
        <p:nvSpPr>
          <p:cNvPr id="8" name="slide number"/>
          <p:cNvSpPr txBox="1"/>
          <p:nvPr/>
        </p:nvSpPr>
        <p:spPr>
          <a:xfrm>
            <a:off x="11074400" y="6489700"/>
            <a:ext cx="508000" cy="241300"/>
          </a:xfrm>
          <a:prstGeom prst="rect">
            <a:avLst/>
          </a:prstGeom>
          <a:noFill/>
        </p:spPr>
        <p:txBody>
          <a:bodyPr wrap="none" lIns="0" tIns="0" rIns="0" bIns="0"/>
          <a:lstStyle/>
          <a:p>
            <a:pPr algn="r"/>
            <a:r>
              <a:rPr lang="en-US" sz="1300">
                <a:solidFill>
                  <a:srgbClr val="F5F7FA">
                    <a:alpha val="92000"/>
                  </a:srgbClr>
                </a:solidFill>
                <a:latin typeface="Inter"/>
              </a:rPr>
              <a:t>14</a:t>
            </a:r>
          </a:p>
        </p:txBody>
      </p:sp>
    </p:spTree>
  </p:cSld>
  <p:clrMapOvr>
    <a:masterClrMapping/>
  </p:clrMapOvr>
</p:sld>
</file>

<file path=ppt/theme/theme1.xml><?xml version="1.0" encoding="utf-8"?>
<a:theme xmlns:a="http://schemas.openxmlformats.org/drawingml/2006/main" name="RTD">
  <a:themeElements>
    <a:clrScheme name="RTD">
      <a:dk1>
        <a:srgbClr val="0B0F14"/>
      </a:dk1>
      <a:lt1>
        <a:srgbClr val="F5F7FA"/>
      </a:lt1>
      <a:dk2>
        <a:srgbClr val="0B0F14"/>
      </a:dk2>
      <a:lt2>
        <a:srgbClr val="F5F7FA"/>
      </a:lt2>
      <a:accent1>
        <a:srgbClr val="FFB224"/>
      </a:accent1>
      <a:accent2>
        <a:srgbClr val="3BA3FF"/>
      </a:accent2>
      <a:accent3>
        <a:srgbClr val="2BD47D"/>
      </a:accent3>
      <a:accent4>
        <a:srgbClr val="FF4D4F"/>
      </a:accent4>
      <a:accent5>
        <a:srgbClr val="8A96A3"/>
      </a:accent5>
      <a:accent6>
        <a:srgbClr val="C9D3DE"/>
      </a:accent6>
      <a:hlink>
        <a:srgbClr val="FFB224"/>
      </a:hlink>
      <a:folHlink>
        <a:srgbClr val="C9D3DE"/>
      </a:folHlink>
    </a:clrScheme>
    <a:fontScheme name="Inter">
      <a:majorFont>
        <a:latin typeface="Inter Display"/>
        <a:ea typeface=""/>
        <a:cs typeface=""/>
      </a:majorFont>
      <a:minorFont>
        <a:latin typeface="Inter"/>
        <a:ea typeface=""/>
        <a:cs typeface=""/>
      </a:minorFont>
    </a:fontScheme>
    <a:fmtScheme name="m">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RTD">
  <a:themeElements>
    <a:clrScheme name="RTD">
      <a:dk1>
        <a:srgbClr val="0B0F14"/>
      </a:dk1>
      <a:lt1>
        <a:srgbClr val="F5F7FA"/>
      </a:lt1>
      <a:dk2>
        <a:srgbClr val="0B0F14"/>
      </a:dk2>
      <a:lt2>
        <a:srgbClr val="F5F7FA"/>
      </a:lt2>
      <a:accent1>
        <a:srgbClr val="FFB224"/>
      </a:accent1>
      <a:accent2>
        <a:srgbClr val="3BA3FF"/>
      </a:accent2>
      <a:accent3>
        <a:srgbClr val="2BD47D"/>
      </a:accent3>
      <a:accent4>
        <a:srgbClr val="FF4D4F"/>
      </a:accent4>
      <a:accent5>
        <a:srgbClr val="8A96A3"/>
      </a:accent5>
      <a:accent6>
        <a:srgbClr val="C9D3DE"/>
      </a:accent6>
      <a:hlink>
        <a:srgbClr val="FFB224"/>
      </a:hlink>
      <a:folHlink>
        <a:srgbClr val="C9D3DE"/>
      </a:folHlink>
    </a:clrScheme>
    <a:fontScheme name="Inter">
      <a:majorFont>
        <a:latin typeface="Inter Display"/>
        <a:ea typeface=""/>
        <a:cs typeface=""/>
      </a:majorFont>
      <a:minorFont>
        <a:latin typeface="Inter"/>
        <a:ea typeface=""/>
        <a:cs typeface=""/>
      </a:minorFont>
    </a:fontScheme>
    <a:fmtScheme name="m">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Arca deck builder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Arca</dc:title>
  <dc:creator>Arca team</dc:creator>
</cp:coreProperties>
</file>