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ux2_route_1920x108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ux2_new_emergency_1920x108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18n_en_queue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18n_en_agentes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18n_en_case_Retorno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ux2_meios_1920x1080.png"/><Relationship Id="rId3" Type="http://schemas.openxmlformats.org/officeDocument/2006/relationships/image" Target="../media/ux2_route_1920x1080.png"/><Relationship Id="rId4" Type="http://schemas.openxmlformats.org/officeDocument/2006/relationships/image" Target="../media/ux2_dispatched_1920x108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18n_en_evals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1F5F9"/>
                </a:solidFill>
                <a:latin typeface="Calibri"/>
              </a:rPr>
              <a:t>Rescue Triage Desk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Messy flood messages in, human-approved rescue dispatch out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507492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Built and replayed on the May 2024 Rio Grande do Sul floods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Portuguese rescue requests become evidence-linked cases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Code checks, agents explain, a human approves every dispatch</a:t>
            </a:r>
          </a:p>
        </p:txBody>
      </p:sp>
      <p:pic>
        <p:nvPicPr>
          <p:cNvPr id="5" name="Screenshot 5" descr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20" y="1650000"/>
            <a:ext cx="6002680" cy="3376507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Note 6"/>
          <p:cNvSpPr txBox="1"/>
          <p:nvPr/>
        </p:nvSpPr>
        <p:spPr>
          <a:xfrm>
            <a:off x="457200" y="5900000"/>
            <a:ext cx="112776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rgbClr val="34D399"/>
                </a:solidFill>
                <a:latin typeface="Calibri"/>
              </a:rPr>
              <a:t>Retrospective replay desk, not a deployed emergency system.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8" name="Number 8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The problem: requests are messy, decisions are urgent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Users: dispatchers, coordinators, volunteer boat crews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507492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Citizens write half an address, "my two babies", a landmark, a rumour of rescue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Dispatchers must decide where, how many, who is vulnerable, what is already rescued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A wrong guess sends a boat to the wrong street, or leaves a family waiting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They need evidence they can check, not a black-box score</a:t>
            </a:r>
          </a:p>
        </p:txBody>
      </p:sp>
      <p:pic>
        <p:nvPicPr>
          <p:cNvPr id="5" name="Screenshot 5" descr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20" y="1650000"/>
            <a:ext cx="6002680" cy="3376507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ooter 6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7" name="Number 7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The solution: an evidence-linked dispatch desk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From message to approved mission, every step checkable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507492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Reads PT/EN/ES messages; every extracted field carries an exact quote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Code verifies places, counts, hazards, freshness and asset safety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Callback agent asks the citizen at most three questions, then re-triages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Groups cases into missions, routes land and water legs, tracks field feedback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Human confirms the location and approves; undo is available</a:t>
            </a:r>
          </a:p>
        </p:txBody>
      </p:sp>
      <p:pic>
        <p:nvPicPr>
          <p:cNvPr id="5" name="Screenshot 5" descr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20" y="1650000"/>
            <a:ext cx="6002680" cy="3376507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ooter 6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7" name="Number 7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Agent workflow and architecture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An agent exists only where it decides something code cannot</a:t>
            </a:r>
          </a:p>
        </p:txBody>
      </p:sp>
      <p:sp>
        <p:nvSpPr>
          <p:cNvPr id="4" name="Step 4"/>
          <p:cNvSpPr txBox="1"/>
          <p:nvPr/>
        </p:nvSpPr>
        <p:spPr>
          <a:xfrm>
            <a:off x="457200" y="1600000"/>
            <a:ext cx="1040000" cy="68000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Calibri"/>
              </a:rPr>
              <a:t>Message</a:t>
            </a:r>
          </a:p>
        </p:txBody>
      </p:sp>
      <p:sp>
        <p:nvSpPr>
          <p:cNvPr id="5" name="Step 5"/>
          <p:cNvSpPr txBox="1"/>
          <p:nvPr/>
        </p:nvSpPr>
        <p:spPr>
          <a:xfrm>
            <a:off x="2163466" y="1600000"/>
            <a:ext cx="1040000" cy="68000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Calibri"/>
              </a:rPr>
              <a:t>Redact + injection check</a:t>
            </a:r>
          </a:p>
        </p:txBody>
      </p:sp>
      <p:sp>
        <p:nvSpPr>
          <p:cNvPr id="6" name="Step 6"/>
          <p:cNvSpPr txBox="1"/>
          <p:nvPr/>
        </p:nvSpPr>
        <p:spPr>
          <a:xfrm>
            <a:off x="3869732" y="1600000"/>
            <a:ext cx="1040000" cy="68000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Calibri"/>
              </a:rPr>
              <a:t>Intake</a:t>
            </a:r>
          </a:p>
        </p:txBody>
      </p:sp>
      <p:sp>
        <p:nvSpPr>
          <p:cNvPr id="7" name="Step 7"/>
          <p:cNvSpPr txBox="1"/>
          <p:nvPr/>
        </p:nvSpPr>
        <p:spPr>
          <a:xfrm>
            <a:off x="5575998" y="1600000"/>
            <a:ext cx="1040000" cy="68000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Calibri"/>
              </a:rPr>
              <a:t>Critic (max 1 revision)</a:t>
            </a:r>
          </a:p>
        </p:txBody>
      </p:sp>
      <p:sp>
        <p:nvSpPr>
          <p:cNvPr id="8" name="Step 8"/>
          <p:cNvSpPr txBox="1"/>
          <p:nvPr/>
        </p:nvSpPr>
        <p:spPr>
          <a:xfrm>
            <a:off x="7282264" y="1600000"/>
            <a:ext cx="1040000" cy="68000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Calibri"/>
              </a:rPr>
              <a:t>Location + tools</a:t>
            </a:r>
          </a:p>
        </p:txBody>
      </p:sp>
      <p:sp>
        <p:nvSpPr>
          <p:cNvPr id="9" name="Step 9"/>
          <p:cNvSpPr txBox="1"/>
          <p:nvPr/>
        </p:nvSpPr>
        <p:spPr>
          <a:xfrm>
            <a:off x="8988530" y="1600000"/>
            <a:ext cx="1040000" cy="68000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Calibri"/>
              </a:rPr>
              <a:t>Code checks + hazards</a:t>
            </a:r>
          </a:p>
        </p:txBody>
      </p:sp>
      <p:sp>
        <p:nvSpPr>
          <p:cNvPr id="10" name="Step 10"/>
          <p:cNvSpPr txBox="1"/>
          <p:nvPr/>
        </p:nvSpPr>
        <p:spPr>
          <a:xfrm>
            <a:off x="10694796" y="1600000"/>
            <a:ext cx="1040000" cy="68000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Calibri"/>
              </a:rPr>
              <a:t>Human approval</a:t>
            </a:r>
          </a:p>
        </p:txBody>
      </p:sp>
      <p:sp>
        <p:nvSpPr>
          <p:cNvPr id="11" name="Body 11"/>
          <p:cNvSpPr txBox="1"/>
          <p:nvPr/>
        </p:nvSpPr>
        <p:spPr>
          <a:xfrm>
            <a:off x="457200" y="2430000"/>
            <a:ext cx="4511040" cy="38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Also: Needs, Duplicate reviewer, Callback planner, Field feedback, Mission brief, Supervisor, Red team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Strict JSON, one retry, visible fallback; unsafe asset or injection blocks dispatch</a:t>
            </a:r>
          </a:p>
        </p:txBody>
      </p:sp>
      <p:pic>
        <p:nvPicPr>
          <p:cNvPr id="12" name="Screenshot 12" descr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240" y="2480000"/>
            <a:ext cx="6566560" cy="369369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13" name="Footer 13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14" name="Number 14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Small, auditable, runs on a 16 GB laptop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1127760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Python 3.12 standard library only; no pip install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Nemotron 3.5 (Super VL 120B, Lightning 30B) via Meterless Nightshift, thinking on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Zetaris REST + SeaweedFS S3 for streets, landmarks, shelters, pumps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MapLibre GL, OSM, Copernicus EMS flood extent and HAND depth, IBGE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SAMPLE_MODE=true runs everything offline; Docker image included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6" name="Number 6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Zetaris and Meterless in the product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Sponsor technology is used in user-facing features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507492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Nightshift: every call logs the routed model and a receipt (lanes race)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World Model engine: append-only journal, replay, 409 on stale versions, human-only transitions; 6 conformance tests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Zetaris: 5 sources onboarded, 3 semantic views; Rodoviária in flood extent, 4,514 flooded segments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Data-quality rule: 62 of 734 shelter snapshots over capacity</a:t>
            </a:r>
          </a:p>
        </p:txBody>
      </p:sp>
      <p:pic>
        <p:nvPicPr>
          <p:cNvPr id="5" name="Screenshot 5" descr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20" y="1650000"/>
            <a:ext cx="6002680" cy="3376507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ooter 6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7" name="Number 7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What is different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Safety by construction, not by prompt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1127760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Every model claim is tied to a quote or fact id and validated by code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Counts, distances and ranks are never model output; derived counts are flagged "confirm"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Red-team attacker declares its expected outcome first; failures become human-approved regressions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Straight-line water legs and retrospective depth are labelled estimates, never safe-route claims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Place memory is exact, city-scoped and revocable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6" name="Number 6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The product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Dispatcher console (offline sample mode shown, synthetic data)</a:t>
            </a:r>
          </a:p>
        </p:txBody>
      </p:sp>
      <p:pic>
        <p:nvPicPr>
          <p:cNvPr id="4" name="Screenshot 4" descr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0000"/>
            <a:ext cx="3625866" cy="2039549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457200" y="3899549"/>
            <a:ext cx="3625866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Calibri"/>
              </a:rPr>
              <a:t>Meios: assets ranked, unsafe ones blocked</a:t>
            </a:r>
          </a:p>
        </p:txBody>
      </p:sp>
      <p:pic>
        <p:nvPicPr>
          <p:cNvPr id="6" name="Screenshot 6" descr="Produc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066" y="1800000"/>
            <a:ext cx="3625866" cy="2039549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7" name="Caption 7"/>
          <p:cNvSpPr txBox="1"/>
          <p:nvPr/>
        </p:nvSpPr>
        <p:spPr>
          <a:xfrm>
            <a:off x="4283066" y="3899549"/>
            <a:ext cx="3625866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Calibri"/>
              </a:rPr>
              <a:t>Ver rota: land + labelled water leg</a:t>
            </a:r>
          </a:p>
        </p:txBody>
      </p:sp>
      <p:pic>
        <p:nvPicPr>
          <p:cNvPr id="8" name="Screenshot 8" descr="Produc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932" y="1800000"/>
            <a:ext cx="3625866" cy="2039549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9" name="Caption 9"/>
          <p:cNvSpPr txBox="1"/>
          <p:nvPr/>
        </p:nvSpPr>
        <p:spPr>
          <a:xfrm>
            <a:off x="8108932" y="3899549"/>
            <a:ext cx="3625866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Calibri"/>
              </a:rPr>
              <a:t>Despachar: human decision recorded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11" name="Number 11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Results (our own sets, labelled)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Commit 4867ff0; live run 26 Oct 2026 19:40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507492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Live realdev 30-sample: 29/30, 0 unsafe, mean 20.6 s, p95 53 s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Offline: realdev 134/150, 0 unsafe; red team 42/42; adversarial 24/24; 1170 tests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dev2 (180 author-written messages), live 60-sample before fixes: 36/46 non-ambiguous, people count 28/29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Sealed 50: [TBD-sealed50]. Holdout 2: [TBD-holdout2] (run once after freeze)</a:t>
            </a:r>
          </a:p>
          <a:p>
            <a:pPr marL="285750" indent="-285750">
              <a:spcBef>
                <a:spcPts val="10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/>
              </a:rPr>
              <a:t>Limits: dev sets are ours; fleet and GPS simulated; HAND depth retrospective</a:t>
            </a:r>
          </a:p>
        </p:txBody>
      </p:sp>
      <p:pic>
        <p:nvPicPr>
          <p:cNvPr id="5" name="Screenshot 5" descr="Produc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20" y="1650000"/>
            <a:ext cx="6002680" cy="3376507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ooter 6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7" name="Number 7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300000"/>
            <a:ext cx="112776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1F5F9"/>
                </a:solidFill>
                <a:latin typeface="Calibri"/>
              </a:rPr>
              <a:t>Future enhancements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457200" y="1060000"/>
            <a:ext cx="1127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Calibri"/>
              </a:rPr>
              <a:t>Reproduce it: clone, SAMPLE_MODE=true python run.py serve --sample, open /v2</a:t>
            </a:r>
          </a:p>
        </p:txBody>
      </p:sp>
      <p:sp>
        <p:nvSpPr>
          <p:cNvPr id="4" name="Body 4"/>
          <p:cNvSpPr txBox="1"/>
          <p:nvPr/>
        </p:nvSpPr>
        <p:spPr>
          <a:xfrm>
            <a:off x="457200" y="1600000"/>
            <a:ext cx="11277600" cy="4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Real fleet and GPS feeds; authentication and roles for operators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Real-message evaluation with responders; sealed and held-out results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Navigable water routing with verified depth; live gauge data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Persist the Zetaris semantic views through the product UI</a:t>
            </a:r>
          </a:p>
          <a:p>
            <a:pPr marL="285750" indent="-285750">
              <a:spcBef>
                <a:spcPts val="1200"/>
              </a:spcBef>
              <a:buClr>
                <a:srgbClr val="F59E0B"/>
              </a:buClr>
              <a:buFont typeface="Arial"/>
              <a:buChar char="•"/>
            </a:pPr>
            <a:r>
              <a:rPr lang="en-US" sz="2200" dirty="0">
                <a:solidFill>
                  <a:srgbClr val="F1F5F9"/>
                </a:solidFill>
                <a:latin typeface="Calibri"/>
              </a:rPr>
              <a:t>Repo, video and deck links: [fill in at submission]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457200" y="6430000"/>
            <a:ext cx="105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Rescue Triage Desk | May 2024 RS floods replay | synthetic data | screenshots: offline sample mode</a:t>
            </a:r>
          </a:p>
        </p:txBody>
      </p:sp>
      <p:sp>
        <p:nvSpPr>
          <p:cNvPr id="6" name="Number 6"/>
          <p:cNvSpPr txBox="1"/>
          <p:nvPr/>
        </p:nvSpPr>
        <p:spPr>
          <a:xfrm>
            <a:off x="11134800" y="643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TD">
  <a:themeElements>
    <a:clrScheme name="RTD">
      <a:dk1>
        <a:srgbClr val="0B1220"/>
      </a:dk1>
      <a:lt1>
        <a:srgbClr val="FFFFFF"/>
      </a:lt1>
      <a:dk2>
        <a:srgbClr val="172033"/>
      </a:dk2>
      <a:lt2>
        <a:srgbClr val="F1F5F9"/>
      </a:lt2>
      <a:accent1>
        <a:srgbClr val="F59E0B"/>
      </a:accent1>
      <a:accent2>
        <a:srgbClr val="34D399"/>
      </a:accent2>
      <a:accent3>
        <a:srgbClr val="60A5FA"/>
      </a:accent3>
      <a:accent4>
        <a:srgbClr val="F87171"/>
      </a:accent4>
      <a:accent5>
        <a:srgbClr val="A78BFA"/>
      </a:accent5>
      <a:accent6>
        <a:srgbClr val="94A3B8"/>
      </a:accent6>
      <a:hlink>
        <a:srgbClr val="60A5FA"/>
      </a:hlink>
      <a:folHlink>
        <a:srgbClr val="A78BFA"/>
      </a:folHlink>
    </a:clrScheme>
    <a:fontScheme name="RTD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T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